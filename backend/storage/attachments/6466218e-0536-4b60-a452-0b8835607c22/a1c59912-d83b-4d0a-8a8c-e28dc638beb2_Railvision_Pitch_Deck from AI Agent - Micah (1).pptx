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ifmdkmHcW4toENcf9l6cucuLIvO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ah Kotch" initials=""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9C5E91-F9D8-43EA-AEE6-2654B00A3683}" v="1" dt="2026-01-28T13:38:07.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viewProps" Target="viewProps.xml"/><Relationship Id="rId19" Type="http://schemas.microsoft.com/office/2015/10/relationships/revisionInfo" Target="revisionInfo.xml"/><Relationship Id="rId4" Type="http://schemas.openxmlformats.org/officeDocument/2006/relationships/slide" Target="slides/slide3.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ourke163 jorourke163" userId="10fb0a6c269ef6de" providerId="LiveId" clId="{C6639A6B-CF53-4DCA-8CEC-CACC9C48DF51}"/>
    <pc:docChg chg="modSld">
      <pc:chgData name="jorourke163 jorourke163" userId="10fb0a6c269ef6de" providerId="LiveId" clId="{C6639A6B-CF53-4DCA-8CEC-CACC9C48DF51}" dt="2026-01-28T13:38:07.970" v="0"/>
      <pc:docMkLst>
        <pc:docMk/>
      </pc:docMkLst>
      <pc:sldChg chg="modCm">
        <pc:chgData name="jorourke163 jorourke163" userId="10fb0a6c269ef6de" providerId="LiveId" clId="{C6639A6B-CF53-4DCA-8CEC-CACC9C48DF51}" dt="2026-01-28T13:38:07.970" v="0"/>
        <pc:sldMkLst>
          <pc:docMk/>
          <pc:sldMk cId="0" sldId="256"/>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26-01-26T19:07:21.598" idx="1">
    <p:pos x="398" y="583"/>
    <p:text>I would not frame this as 'disruptive deep tech' as it implies capital intensity and long commercialization runway.  First slide should just be visual of the product in the field, and co. tagline i.e: "operational AI for rail"
"8 Years of Product Development - US$8M Invested" does not come across as a strong selling point.
The three boxes below belong on a different slide: market size for the 650 and $300M and product for 8% fuels savings.</p:text>
    <p:extLst mod="1">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Y"/>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6-01-26T19:08:01.974" idx="2">
    <p:pos x="3096" y="608"/>
    <p:text>Again, not sure who will see this as a selling point.</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c"/>
      </p:ext>
    </p:extLst>
  </p:cm>
  <p:cm authorId="0" dt="2026-01-26T19:11:46.632" idx="3">
    <p:pos x="3096" y="810"/>
    <p:text>More details here would be helpful, as would background on Dev and Jamie.  Helps establish credibility.
This slide has a lot on it that is not about 'Leadership Pivot'.  I would not frame it as a pivot; I'd make it about the Leadership team and relevant backgrounds.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k"/>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6-01-26T19:14:15.049" idx="5">
    <p:pos x="462" y="144"/>
    <p:text>Is this slide about Market, or Solution?  If it's about market size, CAGR, etc. plus Go To Market and Traction, fantastic.  But all three boxes in bottom half of slide are about product and implementation, which is necessary, but does not belong here.
Think we need to make the case that Shortlines are the right place to start, that we have an unfair advantage in this sector, and that they are a natural gateway to a larger Class I market.</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o"/>
      </p:ext>
    </p:extLst>
  </p:cm>
  <p:cm authorId="0" dt="2026-01-26T19:39:58.861" idx="4">
    <p:pos x="2176" y="2411"/>
    <p:text>Might be worthwhile to have a competitive landscape slide including Wabtec, plus the whole slate of rail-tech companies that have been funded over last 12 months to show differentiation...</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8"/>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6-01-26T19:20:14.640" idx="6">
    <p:pos x="2928" y="945"/>
    <p:text>Just FYI - this much customer concentration is going to scare the pants off most traditional investors.
Would be helpful to show unit economics on a per property / track basis.  then show how many properties / tracks we have in pipeline x projected fuel savings = the opportunity set.
More on why we think success at GWRR will create the blueprint for the entire market would be helpful; could be a standalone slide / case study.</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s"/>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0" dt="2026-01-26T19:40:05.446" idx="7">
    <p:pos x="366" y="420"/>
    <p:text>Few things here:  unclear how we get to $10M ARR market and why we think exit range is 5-10X multiple.  Need to show comps.
On 12 month milestones for the $3M, way I like to see it is timeline based with product/tech milestones and business / customer milestones.  What are outcomes the money is buying?</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lA"/>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0" dt="2026-01-26T19:38:04.496" idx="8">
    <p:pos x="6000" y="0"/>
    <p:text>I think there's a much stronger case we need to make about how fuel savings is the wedge for autonomy.  What's the product vision?
re: $300M ARR opp, need to show the back of the napkin math that gets you there.
Don't think anyone expects a 10 year plan, but a disciplined 5 year plan that is commercially viable and exciting is what we need to show.</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w"/>
      </p:ext>
    </p:extLst>
  </p:cm>
  <p:cm authorId="0" dt="2026-01-26T19:33:21.962" idx="9">
    <p:pos x="6000" y="0"/>
    <p:text>Other possible point around co. evolution:
"Railvision is the trusted agent that can automate and redesign core organizational functions to drive better outcomes, deliver the agent observability, security and governance required for deployment in mission-critical industries"
https://www.linkedin.com/pulse/impacts-ai-primitives-agents-climate-saas-strategy-geordan-hankinson-64sec/?trackingId=ZPo2PGXjQLSnmdI7wKdhZA%3D%3D</p:text>
    <p:extLst>
      <p:ext uri="{C676402C-5697-4E1C-873F-D02D1690AC5C}">
        <p15:threadingInfo xmlns:p15="http://schemas.microsoft.com/office/powerpoint/2012/main" timeZoneBias="0">
          <p15:parentCm authorId="0" idx="8"/>
        </p15:threadingInfo>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0"/>
      </p:ext>
    </p:extLst>
  </p:cm>
  <p:cm authorId="0" dt="2026-01-26T19:38:04.496" idx="10">
    <p:pos x="6000" y="0"/>
    <p:text>Also, you're going to have to address the ability to 'create a moat / build something defensible': cheaper optimization, proprietary data advantage, workflow integration, etc.</p:text>
    <p:extLst>
      <p:ext uri="{C676402C-5697-4E1C-873F-D02D1690AC5C}">
        <p15:threadingInfo xmlns:p15="http://schemas.microsoft.com/office/powerpoint/2012/main" timeZoneBias="0">
          <p15:parentCm authorId="0" idx="8"/>
        </p15:threadingInfo>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zFpErk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7" name="Google Shape;27;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 name="Google Shape;56;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7" name="Google Shape;57;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7" name="Google Shape;87;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9" name="Google Shape;11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3" name="Google Shape;153;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comments" Target="../comments/commen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omments" Target="../comments/commen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omments" Target="../comments/commen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omments" Target="../comments/commen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Shape 11"/>
        <p:cNvGrpSpPr/>
        <p:nvPr/>
      </p:nvGrpSpPr>
      <p:grpSpPr>
        <a:xfrm>
          <a:off x="0" y="0"/>
          <a:ext cx="0" cy="0"/>
          <a:chOff x="0" y="0"/>
          <a:chExt cx="0" cy="0"/>
        </a:xfrm>
      </p:grpSpPr>
      <p:sp>
        <p:nvSpPr>
          <p:cNvPr id="12" name="Google Shape;12;p1"/>
          <p:cNvSpPr/>
          <p:nvPr/>
        </p:nvSpPr>
        <p:spPr>
          <a:xfrm>
            <a:off x="491490" y="381000"/>
            <a:ext cx="8161020" cy="239911"/>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00C9A7"/>
              </a:buClr>
              <a:buSzPts val="1350"/>
              <a:buFont typeface="Arial"/>
              <a:buNone/>
            </a:pPr>
            <a:r>
              <a:rPr lang="en-US" sz="1350" b="1" i="0" u="none" strike="noStrike" cap="none">
                <a:solidFill>
                  <a:srgbClr val="00C9A7"/>
                </a:solidFill>
                <a:latin typeface="Arial"/>
                <a:ea typeface="Arial"/>
                <a:cs typeface="Arial"/>
                <a:sym typeface="Arial"/>
              </a:rPr>
              <a:t>RAILVISION.CA</a:t>
            </a:r>
            <a:endParaRPr sz="1350" b="0" i="0" u="none" strike="noStrike" cap="none">
              <a:solidFill>
                <a:schemeClr val="dk1"/>
              </a:solidFill>
              <a:latin typeface="Calibri"/>
              <a:ea typeface="Calibri"/>
              <a:cs typeface="Calibri"/>
              <a:sym typeface="Calibri"/>
            </a:endParaRPr>
          </a:p>
        </p:txBody>
      </p:sp>
      <p:sp>
        <p:nvSpPr>
          <p:cNvPr id="13" name="Google Shape;13;p1"/>
          <p:cNvSpPr/>
          <p:nvPr/>
        </p:nvSpPr>
        <p:spPr>
          <a:xfrm>
            <a:off x="632365" y="925711"/>
            <a:ext cx="7879271" cy="1760041"/>
          </a:xfrm>
          <a:prstGeom prst="rect">
            <a:avLst/>
          </a:prstGeom>
          <a:no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rgbClr val="FFFFFF"/>
              </a:buClr>
              <a:buSzPts val="4200"/>
              <a:buFont typeface="Trebuchet MS"/>
              <a:buNone/>
            </a:pPr>
            <a:r>
              <a:rPr lang="en-US" sz="4200" b="0" i="0" u="none" strike="noStrike" cap="none">
                <a:solidFill>
                  <a:srgbClr val="FFFFFF"/>
                </a:solidFill>
                <a:latin typeface="Trebuchet MS"/>
                <a:ea typeface="Trebuchet MS"/>
                <a:cs typeface="Trebuchet MS"/>
                <a:sym typeface="Trebuchet MS"/>
              </a:rPr>
              <a:t>Disruptive </a:t>
            </a:r>
            <a:r>
              <a:rPr lang="en-US" sz="4200" b="0" i="0" u="none" strike="noStrike" cap="none">
                <a:solidFill>
                  <a:srgbClr val="FFFFFF"/>
                </a:solidFill>
                <a:latin typeface="Trebuchet MS"/>
                <a:ea typeface="Trebuchet MS"/>
                <a:cs typeface="Trebuchet MS"/>
                <a:sym typeface="Trebuchet MS"/>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DeepTech</a:t>
            </a:r>
            <a:endParaRPr sz="4200" b="0" i="0" u="none" strike="noStrike" cap="none">
              <a:solidFill>
                <a:schemeClr val="dk1"/>
              </a:solidFill>
              <a:latin typeface="Calibri"/>
              <a:ea typeface="Calibri"/>
              <a:cs typeface="Calibri"/>
              <a:sym typeface="Calibri"/>
            </a:endParaRPr>
          </a:p>
          <a:p>
            <a:pPr marL="0" marR="0" lvl="0" indent="0" algn="ctr" rtl="0">
              <a:lnSpc>
                <a:spcPct val="110000"/>
              </a:lnSpc>
              <a:spcBef>
                <a:spcPts val="0"/>
              </a:spcBef>
              <a:spcAft>
                <a:spcPts val="0"/>
              </a:spcAft>
              <a:buClr>
                <a:srgbClr val="FFFFFF"/>
              </a:buClr>
              <a:buSzPts val="4200"/>
              <a:buFont typeface="Trebuchet MS"/>
              <a:buNone/>
            </a:pPr>
            <a:r>
              <a:rPr lang="en-US" sz="4200" b="0" i="0" u="none" strike="noStrike" cap="none">
                <a:solidFill>
                  <a:srgbClr val="FFFFFF"/>
                </a:solidFill>
                <a:latin typeface="Trebuchet MS"/>
                <a:ea typeface="Trebuchet MS"/>
                <a:cs typeface="Trebuchet MS"/>
                <a:sym typeface="Trebuchet MS"/>
              </a:rPr>
              <a:t>Industry Knowhow</a:t>
            </a:r>
            <a:endParaRPr sz="4200" b="0" i="0" u="none" strike="noStrike" cap="none">
              <a:solidFill>
                <a:schemeClr val="dk1"/>
              </a:solidFill>
              <a:latin typeface="Calibri"/>
              <a:ea typeface="Calibri"/>
              <a:cs typeface="Calibri"/>
              <a:sym typeface="Calibri"/>
            </a:endParaRPr>
          </a:p>
          <a:p>
            <a:pPr marL="0" marR="0" lvl="0" indent="0" algn="ctr" rtl="0">
              <a:lnSpc>
                <a:spcPct val="110000"/>
              </a:lnSpc>
              <a:spcBef>
                <a:spcPts val="0"/>
              </a:spcBef>
              <a:spcAft>
                <a:spcPts val="0"/>
              </a:spcAft>
              <a:buClr>
                <a:srgbClr val="FFFFFF"/>
              </a:buClr>
              <a:buSzPts val="4200"/>
              <a:buFont typeface="Trebuchet MS"/>
              <a:buNone/>
            </a:pPr>
            <a:r>
              <a:rPr lang="en-US" sz="4200" b="0" i="0" u="none" strike="noStrike" cap="none">
                <a:solidFill>
                  <a:srgbClr val="FFFFFF"/>
                </a:solidFill>
                <a:latin typeface="Trebuchet MS"/>
                <a:ea typeface="Trebuchet MS"/>
                <a:cs typeface="Trebuchet MS"/>
                <a:sym typeface="Trebuchet MS"/>
              </a:rPr>
              <a:t>Commercial Inflection Point</a:t>
            </a:r>
            <a:endParaRPr sz="4200" b="0" i="0" u="none" strike="noStrike" cap="none">
              <a:solidFill>
                <a:schemeClr val="dk1"/>
              </a:solidFill>
              <a:latin typeface="Calibri"/>
              <a:ea typeface="Calibri"/>
              <a:cs typeface="Calibri"/>
              <a:sym typeface="Calibri"/>
            </a:endParaRPr>
          </a:p>
        </p:txBody>
      </p:sp>
      <p:sp>
        <p:nvSpPr>
          <p:cNvPr id="14" name="Google Shape;14;p1"/>
          <p:cNvSpPr/>
          <p:nvPr/>
        </p:nvSpPr>
        <p:spPr>
          <a:xfrm>
            <a:off x="1254258" y="2945677"/>
            <a:ext cx="6801000" cy="5334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8 Years of Product Development - US$8M Invested.</a:t>
            </a:r>
            <a:endParaRPr sz="1500" b="0" i="0" u="none" strike="noStrike" cap="none">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FFFFFF"/>
              </a:buClr>
              <a:buSzPts val="1500"/>
              <a:buFont typeface="Arial"/>
              <a:buNone/>
            </a:pPr>
            <a:r>
              <a:rPr lang="en-US" sz="1500" b="0" i="0" u="none" strike="noStrike" cap="none">
                <a:solidFill>
                  <a:srgbClr val="FFFFFF"/>
                </a:solidFill>
                <a:latin typeface="Arial"/>
                <a:ea typeface="Arial"/>
                <a:cs typeface="Arial"/>
                <a:sym typeface="Arial"/>
              </a:rPr>
              <a:t>A Market Ready for Operational AI.</a:t>
            </a:r>
            <a:endParaRPr sz="1500" b="0" i="0" u="none" strike="noStrike" cap="none">
              <a:solidFill>
                <a:schemeClr val="dk1"/>
              </a:solidFill>
              <a:latin typeface="Calibri"/>
              <a:ea typeface="Calibri"/>
              <a:cs typeface="Calibri"/>
              <a:sym typeface="Calibri"/>
            </a:endParaRPr>
          </a:p>
        </p:txBody>
      </p:sp>
      <p:sp>
        <p:nvSpPr>
          <p:cNvPr id="15" name="Google Shape;15;p1"/>
          <p:cNvSpPr/>
          <p:nvPr/>
        </p:nvSpPr>
        <p:spPr>
          <a:xfrm>
            <a:off x="5610427" y="3828752"/>
            <a:ext cx="1194197" cy="929580"/>
          </a:xfrm>
          <a:prstGeom prst="roundRect">
            <a:avLst>
              <a:gd name="adj" fmla="val 4918"/>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 name="Google Shape;16;p1"/>
          <p:cNvSpPr/>
          <p:nvPr/>
        </p:nvSpPr>
        <p:spPr>
          <a:xfrm>
            <a:off x="5870518" y="3981152"/>
            <a:ext cx="674013" cy="4266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FFFFF"/>
              </a:buClr>
              <a:buSzPts val="2400"/>
              <a:buFont typeface="Arial"/>
              <a:buNone/>
            </a:pPr>
            <a:r>
              <a:rPr lang="en-US" sz="2400" b="1" i="0" u="none" strike="noStrike" cap="none">
                <a:solidFill>
                  <a:srgbClr val="FFFFFF"/>
                </a:solidFill>
                <a:latin typeface="Arial"/>
                <a:ea typeface="Arial"/>
                <a:cs typeface="Arial"/>
                <a:sym typeface="Arial"/>
              </a:rPr>
              <a:t>8%</a:t>
            </a:r>
            <a:endParaRPr sz="2400" b="0" i="0" u="none" strike="noStrike" cap="none">
              <a:solidFill>
                <a:schemeClr val="dk1"/>
              </a:solidFill>
              <a:latin typeface="Calibri"/>
              <a:ea typeface="Calibri"/>
              <a:cs typeface="Calibri"/>
              <a:sym typeface="Calibri"/>
            </a:endParaRPr>
          </a:p>
        </p:txBody>
      </p:sp>
      <p:sp>
        <p:nvSpPr>
          <p:cNvPr id="17" name="Google Shape;17;p1"/>
          <p:cNvSpPr/>
          <p:nvPr/>
        </p:nvSpPr>
        <p:spPr>
          <a:xfrm>
            <a:off x="5818639" y="4407842"/>
            <a:ext cx="674013" cy="1599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FFFFF"/>
              </a:buClr>
              <a:buSzPts val="900"/>
              <a:buFont typeface="Arial"/>
              <a:buNone/>
            </a:pPr>
            <a:r>
              <a:rPr lang="en-US" sz="900" b="0" i="0" u="none" strike="noStrike" cap="none">
                <a:solidFill>
                  <a:srgbClr val="FFFFFF"/>
                </a:solidFill>
                <a:latin typeface="Arial"/>
                <a:ea typeface="Arial"/>
                <a:cs typeface="Arial"/>
                <a:sym typeface="Arial"/>
              </a:rPr>
              <a:t>Fuel Savings</a:t>
            </a:r>
            <a:endParaRPr sz="900" b="0" i="0" u="none" strike="noStrike" cap="none">
              <a:solidFill>
                <a:schemeClr val="dk1"/>
              </a:solidFill>
              <a:latin typeface="Calibri"/>
              <a:ea typeface="Calibri"/>
              <a:cs typeface="Calibri"/>
              <a:sym typeface="Calibri"/>
            </a:endParaRPr>
          </a:p>
        </p:txBody>
      </p:sp>
      <p:sp>
        <p:nvSpPr>
          <p:cNvPr id="18" name="Google Shape;18;p1"/>
          <p:cNvSpPr/>
          <p:nvPr/>
        </p:nvSpPr>
        <p:spPr>
          <a:xfrm>
            <a:off x="2070497" y="3828752"/>
            <a:ext cx="1365647" cy="929580"/>
          </a:xfrm>
          <a:prstGeom prst="roundRect">
            <a:avLst>
              <a:gd name="adj" fmla="val 4918"/>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9" name="Google Shape;19;p1"/>
          <p:cNvSpPr/>
          <p:nvPr/>
        </p:nvSpPr>
        <p:spPr>
          <a:xfrm>
            <a:off x="2328874" y="3981152"/>
            <a:ext cx="848892" cy="4266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A1A1A"/>
              </a:buClr>
              <a:buSzPts val="2400"/>
              <a:buFont typeface="Arial"/>
              <a:buNone/>
            </a:pPr>
            <a:r>
              <a:rPr lang="en-US" sz="2400" b="1" i="0" u="none" strike="noStrike" cap="none">
                <a:solidFill>
                  <a:srgbClr val="1A1A1A"/>
                </a:solidFill>
                <a:latin typeface="Arial"/>
                <a:ea typeface="Arial"/>
                <a:cs typeface="Arial"/>
                <a:sym typeface="Arial"/>
              </a:rPr>
              <a:t>650+</a:t>
            </a:r>
            <a:endParaRPr sz="2400" b="0" i="0" u="none" strike="noStrike" cap="none">
              <a:solidFill>
                <a:schemeClr val="dk1"/>
              </a:solidFill>
              <a:latin typeface="Calibri"/>
              <a:ea typeface="Calibri"/>
              <a:cs typeface="Calibri"/>
              <a:sym typeface="Calibri"/>
            </a:endParaRPr>
          </a:p>
        </p:txBody>
      </p:sp>
      <p:sp>
        <p:nvSpPr>
          <p:cNvPr id="20" name="Google Shape;20;p1"/>
          <p:cNvSpPr/>
          <p:nvPr/>
        </p:nvSpPr>
        <p:spPr>
          <a:xfrm>
            <a:off x="2198451" y="4407843"/>
            <a:ext cx="979315" cy="1599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A1A1A"/>
              </a:buClr>
              <a:buSzPts val="900"/>
              <a:buFont typeface="Arial"/>
              <a:buNone/>
            </a:pPr>
            <a:r>
              <a:rPr lang="en-US" sz="900" b="0" i="0" u="none" strike="noStrike" cap="none">
                <a:solidFill>
                  <a:srgbClr val="1A1A1A"/>
                </a:solidFill>
                <a:latin typeface="Arial"/>
                <a:ea typeface="Arial"/>
                <a:cs typeface="Arial"/>
                <a:sym typeface="Arial"/>
              </a:rPr>
              <a:t>Initial Target Railroads</a:t>
            </a:r>
            <a:endParaRPr sz="900" b="0" i="0" u="none" strike="noStrike" cap="none">
              <a:solidFill>
                <a:schemeClr val="dk1"/>
              </a:solidFill>
              <a:latin typeface="Calibri"/>
              <a:ea typeface="Calibri"/>
              <a:cs typeface="Calibri"/>
              <a:sym typeface="Calibri"/>
            </a:endParaRPr>
          </a:p>
        </p:txBody>
      </p:sp>
      <p:sp>
        <p:nvSpPr>
          <p:cNvPr id="21" name="Google Shape;21;p1"/>
          <p:cNvSpPr/>
          <p:nvPr/>
        </p:nvSpPr>
        <p:spPr>
          <a:xfrm>
            <a:off x="3740944" y="3828752"/>
            <a:ext cx="1505396" cy="929580"/>
          </a:xfrm>
          <a:prstGeom prst="roundRect">
            <a:avLst>
              <a:gd name="adj" fmla="val 4918"/>
            </a:avLst>
          </a:prstGeom>
          <a:solidFill>
            <a:srgbClr val="FFFFFF">
              <a:alpha val="14901"/>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2" name="Google Shape;22;p1"/>
          <p:cNvSpPr/>
          <p:nvPr/>
        </p:nvSpPr>
        <p:spPr>
          <a:xfrm>
            <a:off x="3997924" y="3981152"/>
            <a:ext cx="991436" cy="4266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FFFFF"/>
              </a:buClr>
              <a:buSzPts val="2400"/>
              <a:buFont typeface="Arial"/>
              <a:buNone/>
            </a:pPr>
            <a:r>
              <a:rPr lang="en-US" sz="2400" b="1" i="0" u="none" strike="noStrike" cap="none">
                <a:solidFill>
                  <a:srgbClr val="FFFFFF"/>
                </a:solidFill>
                <a:latin typeface="Arial"/>
                <a:ea typeface="Arial"/>
                <a:cs typeface="Arial"/>
                <a:sym typeface="Arial"/>
              </a:rPr>
              <a:t>$300M</a:t>
            </a:r>
            <a:endParaRPr sz="2400" b="0" i="0" u="none" strike="noStrike" cap="none">
              <a:solidFill>
                <a:schemeClr val="dk1"/>
              </a:solidFill>
              <a:latin typeface="Calibri"/>
              <a:ea typeface="Calibri"/>
              <a:cs typeface="Calibri"/>
              <a:sym typeface="Calibri"/>
            </a:endParaRPr>
          </a:p>
        </p:txBody>
      </p:sp>
      <p:sp>
        <p:nvSpPr>
          <p:cNvPr id="23" name="Google Shape;23;p1"/>
          <p:cNvSpPr/>
          <p:nvPr/>
        </p:nvSpPr>
        <p:spPr>
          <a:xfrm>
            <a:off x="3792826" y="4445943"/>
            <a:ext cx="1401744" cy="15999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FFFFF"/>
              </a:buClr>
              <a:buSzPts val="900"/>
              <a:buFont typeface="Arial"/>
              <a:buNone/>
            </a:pPr>
            <a:r>
              <a:rPr lang="en-US" sz="900" b="0" i="0" u="none" strike="noStrike" cap="none">
                <a:solidFill>
                  <a:srgbClr val="FFFFFF"/>
                </a:solidFill>
                <a:latin typeface="Arial"/>
                <a:ea typeface="Arial"/>
                <a:cs typeface="Arial"/>
                <a:sym typeface="Arial"/>
              </a:rPr>
              <a:t>Global ARR Market</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
        <p:cNvGrpSpPr/>
        <p:nvPr/>
      </p:nvGrpSpPr>
      <p:grpSpPr>
        <a:xfrm>
          <a:off x="0" y="0"/>
          <a:ext cx="0" cy="0"/>
          <a:chOff x="0" y="0"/>
          <a:chExt cx="0" cy="0"/>
        </a:xfrm>
      </p:grpSpPr>
      <p:sp>
        <p:nvSpPr>
          <p:cNvPr id="29" name="Google Shape;29;p2"/>
          <p:cNvSpPr/>
          <p:nvPr/>
        </p:nvSpPr>
        <p:spPr>
          <a:xfrm>
            <a:off x="190500" y="247650"/>
            <a:ext cx="47625" cy="342900"/>
          </a:xfrm>
          <a:prstGeom prst="rect">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0" name="Google Shape;30;p2"/>
          <p:cNvSpPr/>
          <p:nvPr/>
        </p:nvSpPr>
        <p:spPr>
          <a:xfrm>
            <a:off x="542925" y="228600"/>
            <a:ext cx="3930223"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A3D62"/>
              </a:buClr>
              <a:buSzPts val="3000"/>
              <a:buFont typeface="Trebuchet MS"/>
              <a:buNone/>
            </a:pPr>
            <a:r>
              <a:rPr lang="en-US" sz="3000" b="1">
                <a:solidFill>
                  <a:srgbClr val="0A3D62"/>
                </a:solidFill>
                <a:latin typeface="Trebuchet MS"/>
                <a:ea typeface="Trebuchet MS"/>
                <a:cs typeface="Trebuchet MS"/>
                <a:sym typeface="Trebuchet MS"/>
              </a:rPr>
              <a:t>The Leadership Pivot</a:t>
            </a:r>
            <a:endParaRPr sz="3000">
              <a:solidFill>
                <a:schemeClr val="dk1"/>
              </a:solidFill>
              <a:latin typeface="Calibri"/>
              <a:ea typeface="Calibri"/>
              <a:cs typeface="Calibri"/>
              <a:sym typeface="Calibri"/>
            </a:endParaRPr>
          </a:p>
        </p:txBody>
      </p:sp>
      <p:pic>
        <p:nvPicPr>
          <p:cNvPr id="31" name="Google Shape;31;p2" descr="/tmp/rasterized-gradient-82b2a163.png"/>
          <p:cNvPicPr preferRelativeResize="0"/>
          <p:nvPr/>
        </p:nvPicPr>
        <p:blipFill rotWithShape="1">
          <a:blip r:embed="rId3">
            <a:alphaModFix/>
          </a:blip>
          <a:srcRect/>
          <a:stretch/>
        </p:blipFill>
        <p:spPr>
          <a:xfrm>
            <a:off x="381000" y="1339007"/>
            <a:ext cx="4038600" cy="1520875"/>
          </a:xfrm>
          <a:prstGeom prst="rect">
            <a:avLst/>
          </a:prstGeom>
          <a:noFill/>
          <a:ln>
            <a:noFill/>
          </a:ln>
        </p:spPr>
      </p:pic>
      <p:sp>
        <p:nvSpPr>
          <p:cNvPr id="32" name="Google Shape;32;p2"/>
          <p:cNvSpPr/>
          <p:nvPr/>
        </p:nvSpPr>
        <p:spPr>
          <a:xfrm>
            <a:off x="609600" y="1567607"/>
            <a:ext cx="3653028" cy="17323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975"/>
              <a:buFont typeface="Arial"/>
              <a:buNone/>
            </a:pPr>
            <a:r>
              <a:rPr lang="en-US" sz="975" b="1">
                <a:solidFill>
                  <a:srgbClr val="00C9A7"/>
                </a:solidFill>
                <a:latin typeface="Arial"/>
                <a:ea typeface="Arial"/>
                <a:cs typeface="Arial"/>
                <a:sym typeface="Arial"/>
              </a:rPr>
              <a:t>THE VISIONARY</a:t>
            </a:r>
            <a:endParaRPr sz="975">
              <a:solidFill>
                <a:schemeClr val="dk1"/>
              </a:solidFill>
              <a:latin typeface="Calibri"/>
              <a:ea typeface="Calibri"/>
              <a:cs typeface="Calibri"/>
              <a:sym typeface="Calibri"/>
            </a:endParaRPr>
          </a:p>
        </p:txBody>
      </p:sp>
      <p:sp>
        <p:nvSpPr>
          <p:cNvPr id="33" name="Google Shape;33;p2"/>
          <p:cNvSpPr/>
          <p:nvPr/>
        </p:nvSpPr>
        <p:spPr>
          <a:xfrm>
            <a:off x="609600" y="1817043"/>
            <a:ext cx="3653028" cy="25137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650"/>
              <a:buFont typeface="Trebuchet MS"/>
              <a:buNone/>
            </a:pPr>
            <a:r>
              <a:rPr lang="en-US" sz="1650" b="1">
                <a:solidFill>
                  <a:srgbClr val="FFFFFF"/>
                </a:solidFill>
                <a:latin typeface="Trebuchet MS"/>
                <a:ea typeface="Trebuchet MS"/>
                <a:cs typeface="Trebuchet MS"/>
                <a:sym typeface="Trebuchet MS"/>
              </a:rPr>
              <a:t>Dev Jain</a:t>
            </a:r>
            <a:endParaRPr sz="1650">
              <a:solidFill>
                <a:schemeClr val="dk1"/>
              </a:solidFill>
              <a:latin typeface="Calibri"/>
              <a:ea typeface="Calibri"/>
              <a:cs typeface="Calibri"/>
              <a:sym typeface="Calibri"/>
            </a:endParaRPr>
          </a:p>
        </p:txBody>
      </p:sp>
      <p:sp>
        <p:nvSpPr>
          <p:cNvPr id="34" name="Google Shape;34;p2"/>
          <p:cNvSpPr/>
          <p:nvPr/>
        </p:nvSpPr>
        <p:spPr>
          <a:xfrm>
            <a:off x="609600" y="2144613"/>
            <a:ext cx="3653028" cy="18663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050"/>
              <a:buFont typeface="Arial"/>
              <a:buNone/>
            </a:pPr>
            <a:r>
              <a:rPr lang="en-US" sz="1050">
                <a:solidFill>
                  <a:srgbClr val="FFFFFF"/>
                </a:solidFill>
                <a:latin typeface="Arial"/>
                <a:ea typeface="Arial"/>
                <a:cs typeface="Arial"/>
                <a:sym typeface="Arial"/>
              </a:rPr>
              <a:t>Founder &amp; CTO</a:t>
            </a:r>
            <a:endParaRPr sz="1050">
              <a:solidFill>
                <a:schemeClr val="dk1"/>
              </a:solidFill>
              <a:latin typeface="Calibri"/>
              <a:ea typeface="Calibri"/>
              <a:cs typeface="Calibri"/>
              <a:sym typeface="Calibri"/>
            </a:endParaRPr>
          </a:p>
        </p:txBody>
      </p:sp>
      <p:sp>
        <p:nvSpPr>
          <p:cNvPr id="35" name="Google Shape;35;p2"/>
          <p:cNvSpPr/>
          <p:nvPr/>
        </p:nvSpPr>
        <p:spPr>
          <a:xfrm>
            <a:off x="609600" y="2445544"/>
            <a:ext cx="3653028" cy="185738"/>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Built a legitimately disruptive AI-powered navigation system</a:t>
            </a:r>
            <a:endParaRPr sz="975">
              <a:solidFill>
                <a:schemeClr val="dk1"/>
              </a:solidFill>
              <a:latin typeface="Calibri"/>
              <a:ea typeface="Calibri"/>
              <a:cs typeface="Calibri"/>
              <a:sym typeface="Calibri"/>
            </a:endParaRPr>
          </a:p>
        </p:txBody>
      </p:sp>
      <p:pic>
        <p:nvPicPr>
          <p:cNvPr id="36" name="Google Shape;36;p2" descr="/tmp/rasterized-gradient-977f03ce.png"/>
          <p:cNvPicPr preferRelativeResize="0"/>
          <p:nvPr/>
        </p:nvPicPr>
        <p:blipFill rotWithShape="1">
          <a:blip r:embed="rId4">
            <a:alphaModFix/>
          </a:blip>
          <a:srcRect/>
          <a:stretch/>
        </p:blipFill>
        <p:spPr>
          <a:xfrm>
            <a:off x="381000" y="3050381"/>
            <a:ext cx="4038600" cy="1706612"/>
          </a:xfrm>
          <a:prstGeom prst="rect">
            <a:avLst/>
          </a:prstGeom>
          <a:noFill/>
          <a:ln>
            <a:noFill/>
          </a:ln>
        </p:spPr>
      </p:pic>
      <p:sp>
        <p:nvSpPr>
          <p:cNvPr id="37" name="Google Shape;37;p2"/>
          <p:cNvSpPr/>
          <p:nvPr/>
        </p:nvSpPr>
        <p:spPr>
          <a:xfrm>
            <a:off x="609600" y="3278981"/>
            <a:ext cx="3653028" cy="17323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975"/>
              <a:buFont typeface="Arial"/>
              <a:buNone/>
            </a:pPr>
            <a:r>
              <a:rPr lang="en-US" sz="975" b="1">
                <a:solidFill>
                  <a:srgbClr val="FFFFFF"/>
                </a:solidFill>
                <a:latin typeface="Arial"/>
                <a:ea typeface="Arial"/>
                <a:cs typeface="Arial"/>
                <a:sym typeface="Arial"/>
              </a:rPr>
              <a:t>THE OPERATOR</a:t>
            </a:r>
            <a:endParaRPr sz="975">
              <a:solidFill>
                <a:schemeClr val="dk1"/>
              </a:solidFill>
              <a:latin typeface="Calibri"/>
              <a:ea typeface="Calibri"/>
              <a:cs typeface="Calibri"/>
              <a:sym typeface="Calibri"/>
            </a:endParaRPr>
          </a:p>
        </p:txBody>
      </p:sp>
      <p:sp>
        <p:nvSpPr>
          <p:cNvPr id="38" name="Google Shape;38;p2"/>
          <p:cNvSpPr/>
          <p:nvPr/>
        </p:nvSpPr>
        <p:spPr>
          <a:xfrm>
            <a:off x="609600" y="3528417"/>
            <a:ext cx="3653028" cy="25137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650"/>
              <a:buFont typeface="Trebuchet MS"/>
              <a:buNone/>
            </a:pPr>
            <a:r>
              <a:rPr lang="en-US" sz="1650" b="1">
                <a:solidFill>
                  <a:srgbClr val="FFFFFF"/>
                </a:solidFill>
                <a:latin typeface="Trebuchet MS"/>
                <a:ea typeface="Trebuchet MS"/>
                <a:cs typeface="Trebuchet MS"/>
                <a:sym typeface="Trebuchet MS"/>
              </a:rPr>
              <a:t>Jamie O'Rourke</a:t>
            </a:r>
            <a:endParaRPr sz="1650">
              <a:solidFill>
                <a:schemeClr val="dk1"/>
              </a:solidFill>
              <a:latin typeface="Calibri"/>
              <a:ea typeface="Calibri"/>
              <a:cs typeface="Calibri"/>
              <a:sym typeface="Calibri"/>
            </a:endParaRPr>
          </a:p>
        </p:txBody>
      </p:sp>
      <p:sp>
        <p:nvSpPr>
          <p:cNvPr id="39" name="Google Shape;39;p2"/>
          <p:cNvSpPr/>
          <p:nvPr/>
        </p:nvSpPr>
        <p:spPr>
          <a:xfrm>
            <a:off x="609600" y="3855988"/>
            <a:ext cx="3653028" cy="18663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050"/>
              <a:buFont typeface="Arial"/>
              <a:buNone/>
            </a:pPr>
            <a:r>
              <a:rPr lang="en-US" sz="1050">
                <a:solidFill>
                  <a:srgbClr val="FFFFFF"/>
                </a:solidFill>
                <a:latin typeface="Arial"/>
                <a:ea typeface="Arial"/>
                <a:cs typeface="Arial"/>
                <a:sym typeface="Arial"/>
              </a:rPr>
              <a:t>CEO</a:t>
            </a:r>
            <a:endParaRPr sz="1050">
              <a:solidFill>
                <a:schemeClr val="dk1"/>
              </a:solidFill>
              <a:latin typeface="Calibri"/>
              <a:ea typeface="Calibri"/>
              <a:cs typeface="Calibri"/>
              <a:sym typeface="Calibri"/>
            </a:endParaRPr>
          </a:p>
        </p:txBody>
      </p:sp>
      <p:sp>
        <p:nvSpPr>
          <p:cNvPr id="40" name="Google Shape;40;p2"/>
          <p:cNvSpPr/>
          <p:nvPr/>
        </p:nvSpPr>
        <p:spPr>
          <a:xfrm>
            <a:off x="609600" y="4156918"/>
            <a:ext cx="3653028" cy="371475"/>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20 years of unmatched industry credibility to lead commercial activation driven by combination of AI and Industry focus</a:t>
            </a:r>
            <a:endParaRPr sz="975">
              <a:solidFill>
                <a:schemeClr val="dk1"/>
              </a:solidFill>
              <a:latin typeface="Calibri"/>
              <a:ea typeface="Calibri"/>
              <a:cs typeface="Calibri"/>
              <a:sym typeface="Calibri"/>
            </a:endParaRPr>
          </a:p>
        </p:txBody>
      </p:sp>
      <p:sp>
        <p:nvSpPr>
          <p:cNvPr id="41" name="Google Shape;41;p2"/>
          <p:cNvSpPr/>
          <p:nvPr/>
        </p:nvSpPr>
        <p:spPr>
          <a:xfrm>
            <a:off x="4724400" y="1553617"/>
            <a:ext cx="4038600" cy="1101030"/>
          </a:xfrm>
          <a:prstGeom prst="roundRect">
            <a:avLst>
              <a:gd name="adj" fmla="val 4152"/>
            </a:avLst>
          </a:prstGeom>
          <a:solidFill>
            <a:srgbClr val="F8F9FA"/>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42" name="Google Shape;42;p2"/>
          <p:cNvSpPr/>
          <p:nvPr/>
        </p:nvSpPr>
        <p:spPr>
          <a:xfrm>
            <a:off x="4914900" y="965904"/>
            <a:ext cx="3730752" cy="205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350"/>
              <a:buFont typeface="Trebuchet MS"/>
              <a:buNone/>
            </a:pPr>
            <a:r>
              <a:rPr lang="en-US" sz="1350" b="1">
                <a:solidFill>
                  <a:srgbClr val="0A3D62"/>
                </a:solidFill>
                <a:latin typeface="Trebuchet MS"/>
                <a:ea typeface="Trebuchet MS"/>
                <a:cs typeface="Trebuchet MS"/>
                <a:sym typeface="Trebuchet MS"/>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After Nearly a Decade</a:t>
            </a:r>
            <a:endParaRPr sz="1350">
              <a:solidFill>
                <a:schemeClr val="dk1"/>
              </a:solidFill>
              <a:latin typeface="Calibri"/>
              <a:ea typeface="Calibri"/>
              <a:cs typeface="Calibri"/>
              <a:sym typeface="Calibri"/>
            </a:endParaRPr>
          </a:p>
        </p:txBody>
      </p:sp>
      <p:sp>
        <p:nvSpPr>
          <p:cNvPr id="43" name="Google Shape;43;p2"/>
          <p:cNvSpPr/>
          <p:nvPr/>
        </p:nvSpPr>
        <p:spPr>
          <a:xfrm>
            <a:off x="4914900" y="1285884"/>
            <a:ext cx="3730752" cy="400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a:solidFill>
                  <a:srgbClr val="1A1A1A"/>
                </a:solidFill>
                <a:latin typeface="Arial"/>
                <a:ea typeface="Arial"/>
                <a:cs typeface="Arial"/>
                <a:sym typeface="Arial"/>
              </a:rPr>
              <a:t>RailVision Analytics has reached a critical milestone:</a:t>
            </a:r>
            <a:r>
              <a:rPr lang="en-US" sz="1050">
                <a:solidFill>
                  <a:srgbClr val="1A1A1A"/>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technical credibility is established, and the product is proven.</a:t>
            </a:r>
            <a:endParaRPr sz="1050">
              <a:solidFill>
                <a:schemeClr val="dk1"/>
              </a:solidFill>
              <a:latin typeface="Calibri"/>
              <a:ea typeface="Calibri"/>
              <a:cs typeface="Calibri"/>
              <a:sym typeface="Calibri"/>
            </a:endParaRPr>
          </a:p>
        </p:txBody>
      </p:sp>
      <p:sp>
        <p:nvSpPr>
          <p:cNvPr id="44" name="Google Shape;44;p2"/>
          <p:cNvSpPr/>
          <p:nvPr/>
        </p:nvSpPr>
        <p:spPr>
          <a:xfrm>
            <a:off x="4801362" y="1925087"/>
            <a:ext cx="4038600" cy="901005"/>
          </a:xfrm>
          <a:prstGeom prst="roundRect">
            <a:avLst>
              <a:gd name="adj" fmla="val 5074"/>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45" name="Google Shape;45;p2"/>
          <p:cNvSpPr/>
          <p:nvPr/>
        </p:nvSpPr>
        <p:spPr>
          <a:xfrm>
            <a:off x="4955286" y="2086124"/>
            <a:ext cx="3730752" cy="205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A1A1A"/>
              </a:buClr>
              <a:buSzPts val="1350"/>
              <a:buFont typeface="Trebuchet MS"/>
              <a:buNone/>
            </a:pPr>
            <a:r>
              <a:rPr lang="en-US" sz="1350" b="1">
                <a:solidFill>
                  <a:srgbClr val="1A1A1A"/>
                </a:solidFill>
                <a:latin typeface="Trebuchet MS"/>
                <a:ea typeface="Trebuchet MS"/>
                <a:cs typeface="Trebuchet MS"/>
                <a:sym typeface="Trebuchet MS"/>
              </a:rPr>
              <a:t>Software as a Service</a:t>
            </a:r>
            <a:endParaRPr sz="1350">
              <a:solidFill>
                <a:schemeClr val="dk1"/>
              </a:solidFill>
              <a:latin typeface="Calibri"/>
              <a:ea typeface="Calibri"/>
              <a:cs typeface="Calibri"/>
              <a:sym typeface="Calibri"/>
            </a:endParaRPr>
          </a:p>
        </p:txBody>
      </p:sp>
      <p:sp>
        <p:nvSpPr>
          <p:cNvPr id="46" name="Google Shape;46;p2"/>
          <p:cNvSpPr/>
          <p:nvPr/>
        </p:nvSpPr>
        <p:spPr>
          <a:xfrm>
            <a:off x="4955286" y="2391293"/>
            <a:ext cx="3730752" cy="200025"/>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a:solidFill>
                  <a:srgbClr val="1A1A1A"/>
                </a:solidFill>
                <a:latin typeface="Arial"/>
                <a:ea typeface="Arial"/>
                <a:cs typeface="Arial"/>
                <a:sym typeface="Arial"/>
              </a:rPr>
              <a:t>Delivers </a:t>
            </a:r>
            <a:r>
              <a:rPr lang="en-US" sz="1050" b="1">
                <a:solidFill>
                  <a:srgbClr val="1A1A1A"/>
                </a:solidFill>
                <a:latin typeface="Arial"/>
                <a:ea typeface="Arial"/>
                <a:cs typeface="Arial"/>
                <a:sym typeface="Arial"/>
              </a:rPr>
              <a:t>verified real fuel savings</a:t>
            </a:r>
            <a:r>
              <a:rPr lang="en-US" sz="1050">
                <a:solidFill>
                  <a:srgbClr val="1A1A1A"/>
                </a:solidFill>
                <a:latin typeface="Arial"/>
                <a:ea typeface="Arial"/>
                <a:cs typeface="Arial"/>
                <a:sym typeface="Arial"/>
              </a:rPr>
              <a:t> across locomotives</a:t>
            </a:r>
            <a:endParaRPr sz="1050">
              <a:solidFill>
                <a:schemeClr val="dk1"/>
              </a:solidFill>
              <a:latin typeface="Calibri"/>
              <a:ea typeface="Calibri"/>
              <a:cs typeface="Calibri"/>
              <a:sym typeface="Calibri"/>
            </a:endParaRPr>
          </a:p>
        </p:txBody>
      </p:sp>
      <p:cxnSp>
        <p:nvCxnSpPr>
          <p:cNvPr id="47" name="Google Shape;47;p2"/>
          <p:cNvCxnSpPr/>
          <p:nvPr/>
        </p:nvCxnSpPr>
        <p:spPr>
          <a:xfrm>
            <a:off x="4743450" y="3082240"/>
            <a:ext cx="0" cy="681930"/>
          </a:xfrm>
          <a:prstGeom prst="straightConnector1">
            <a:avLst/>
          </a:prstGeom>
          <a:noFill/>
          <a:ln w="38100" cap="flat" cmpd="sng">
            <a:solidFill>
              <a:srgbClr val="00C9A7"/>
            </a:solidFill>
            <a:prstDash val="solid"/>
            <a:round/>
            <a:headEnd type="none" w="sm" len="sm"/>
            <a:tailEnd type="none" w="sm" len="sm"/>
          </a:ln>
        </p:spPr>
      </p:cxnSp>
      <p:sp>
        <p:nvSpPr>
          <p:cNvPr id="48" name="Google Shape;48;p2"/>
          <p:cNvSpPr/>
          <p:nvPr/>
        </p:nvSpPr>
        <p:spPr>
          <a:xfrm>
            <a:off x="4914900" y="3082240"/>
            <a:ext cx="3925062" cy="205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350"/>
              <a:buFont typeface="Trebuchet MS"/>
              <a:buNone/>
            </a:pPr>
            <a:r>
              <a:rPr lang="en-US" sz="1350" b="1">
                <a:solidFill>
                  <a:srgbClr val="0A3D62"/>
                </a:solidFill>
                <a:latin typeface="Trebuchet MS"/>
                <a:ea typeface="Trebuchet MS"/>
                <a:cs typeface="Trebuchet MS"/>
                <a:sym typeface="Trebuchet MS"/>
              </a:rPr>
              <a:t>The Inflection</a:t>
            </a:r>
            <a:endParaRPr sz="1350">
              <a:solidFill>
                <a:schemeClr val="dk1"/>
              </a:solidFill>
              <a:latin typeface="Calibri"/>
              <a:ea typeface="Calibri"/>
              <a:cs typeface="Calibri"/>
              <a:sym typeface="Calibri"/>
            </a:endParaRPr>
          </a:p>
        </p:txBody>
      </p:sp>
      <p:sp>
        <p:nvSpPr>
          <p:cNvPr id="49" name="Google Shape;49;p2"/>
          <p:cNvSpPr/>
          <p:nvPr/>
        </p:nvSpPr>
        <p:spPr>
          <a:xfrm>
            <a:off x="4914900" y="3364120"/>
            <a:ext cx="3925062" cy="400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a:solidFill>
                  <a:srgbClr val="1A1A1A"/>
                </a:solidFill>
                <a:latin typeface="Arial"/>
                <a:ea typeface="Arial"/>
                <a:cs typeface="Arial"/>
                <a:sym typeface="Arial"/>
              </a:rPr>
              <a:t>Shifting from R&amp;D-focused laboratory to a high-velocity revenue engine</a:t>
            </a:r>
            <a:endParaRPr sz="1050">
              <a:solidFill>
                <a:schemeClr val="dk1"/>
              </a:solidFill>
              <a:latin typeface="Calibri"/>
              <a:ea typeface="Calibri"/>
              <a:cs typeface="Calibri"/>
              <a:sym typeface="Calibri"/>
            </a:endParaRPr>
          </a:p>
        </p:txBody>
      </p:sp>
      <p:sp>
        <p:nvSpPr>
          <p:cNvPr id="50" name="Google Shape;50;p2"/>
          <p:cNvSpPr/>
          <p:nvPr/>
        </p:nvSpPr>
        <p:spPr>
          <a:xfrm>
            <a:off x="381000" y="4781550"/>
            <a:ext cx="8549640" cy="1333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750"/>
              <a:buFont typeface="Arial"/>
              <a:buNone/>
            </a:pPr>
            <a:r>
              <a:rPr lang="en-US" sz="750">
                <a:solidFill>
                  <a:srgbClr val="6C757D"/>
                </a:solidFill>
                <a:latin typeface="Arial"/>
                <a:ea typeface="Arial"/>
                <a:cs typeface="Arial"/>
                <a:sym typeface="Arial"/>
              </a:rPr>
              <a:t>Railvision.cn | Confidential</a:t>
            </a:r>
            <a:endParaRPr sz="750">
              <a:solidFill>
                <a:schemeClr val="dk1"/>
              </a:solidFill>
              <a:latin typeface="Calibri"/>
              <a:ea typeface="Calibri"/>
              <a:cs typeface="Calibri"/>
              <a:sym typeface="Calibri"/>
            </a:endParaRPr>
          </a:p>
        </p:txBody>
      </p:sp>
      <p:cxnSp>
        <p:nvCxnSpPr>
          <p:cNvPr id="51" name="Google Shape;51;p2"/>
          <p:cNvCxnSpPr/>
          <p:nvPr/>
        </p:nvCxnSpPr>
        <p:spPr>
          <a:xfrm>
            <a:off x="4756015" y="3939150"/>
            <a:ext cx="0" cy="681930"/>
          </a:xfrm>
          <a:prstGeom prst="straightConnector1">
            <a:avLst/>
          </a:prstGeom>
          <a:noFill/>
          <a:ln w="38100" cap="flat" cmpd="sng">
            <a:solidFill>
              <a:srgbClr val="00C9A7"/>
            </a:solidFill>
            <a:prstDash val="solid"/>
            <a:round/>
            <a:headEnd type="none" w="sm" len="sm"/>
            <a:tailEnd type="none" w="sm" len="sm"/>
          </a:ln>
        </p:spPr>
      </p:cxnSp>
      <p:sp>
        <p:nvSpPr>
          <p:cNvPr id="52" name="Google Shape;52;p2"/>
          <p:cNvSpPr/>
          <p:nvPr/>
        </p:nvSpPr>
        <p:spPr>
          <a:xfrm>
            <a:off x="4914900" y="3949303"/>
            <a:ext cx="3925062" cy="205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350"/>
              <a:buFont typeface="Trebuchet MS"/>
              <a:buNone/>
            </a:pPr>
            <a:r>
              <a:rPr lang="en-US" sz="1350" b="1">
                <a:solidFill>
                  <a:srgbClr val="0A3D62"/>
                </a:solidFill>
                <a:latin typeface="Trebuchet MS"/>
                <a:ea typeface="Trebuchet MS"/>
                <a:cs typeface="Trebuchet MS"/>
                <a:sym typeface="Trebuchet MS"/>
              </a:rPr>
              <a:t>The Need 🡨🡪 The Opportunity</a:t>
            </a:r>
            <a:endParaRPr sz="1350">
              <a:solidFill>
                <a:schemeClr val="dk1"/>
              </a:solidFill>
              <a:latin typeface="Calibri"/>
              <a:ea typeface="Calibri"/>
              <a:cs typeface="Calibri"/>
              <a:sym typeface="Calibri"/>
            </a:endParaRPr>
          </a:p>
        </p:txBody>
      </p:sp>
      <p:sp>
        <p:nvSpPr>
          <p:cNvPr id="53" name="Google Shape;53;p2"/>
          <p:cNvSpPr/>
          <p:nvPr/>
        </p:nvSpPr>
        <p:spPr>
          <a:xfrm>
            <a:off x="4955286" y="4218682"/>
            <a:ext cx="3925062" cy="400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a:solidFill>
                  <a:srgbClr val="1A1A1A"/>
                </a:solidFill>
                <a:latin typeface="Arial"/>
                <a:ea typeface="Arial"/>
                <a:cs typeface="Arial"/>
                <a:sym typeface="Arial"/>
              </a:rPr>
              <a:t>Railroad sales and support infrastructure – global market</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
        <p:cNvGrpSpPr/>
        <p:nvPr/>
      </p:nvGrpSpPr>
      <p:grpSpPr>
        <a:xfrm>
          <a:off x="0" y="0"/>
          <a:ext cx="0" cy="0"/>
          <a:chOff x="0" y="0"/>
          <a:chExt cx="0" cy="0"/>
        </a:xfrm>
      </p:grpSpPr>
      <p:sp>
        <p:nvSpPr>
          <p:cNvPr id="59" name="Google Shape;59;p3"/>
          <p:cNvSpPr/>
          <p:nvPr/>
        </p:nvSpPr>
        <p:spPr>
          <a:xfrm>
            <a:off x="381000" y="247650"/>
            <a:ext cx="47625" cy="342900"/>
          </a:xfrm>
          <a:prstGeom prst="rect">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0" name="Google Shape;60;p3"/>
          <p:cNvSpPr/>
          <p:nvPr/>
        </p:nvSpPr>
        <p:spPr>
          <a:xfrm>
            <a:off x="733425" y="228600"/>
            <a:ext cx="4685452"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A3D62"/>
              </a:buClr>
              <a:buSzPts val="3000"/>
              <a:buFont typeface="Trebuchet MS"/>
              <a:buNone/>
            </a:pPr>
            <a:r>
              <a:rPr lang="en-US" sz="3000" b="1">
                <a:solidFill>
                  <a:srgbClr val="0A3D62"/>
                </a:solidFill>
                <a:latin typeface="Trebuchet MS"/>
                <a:ea typeface="Trebuchet MS"/>
                <a:cs typeface="Trebuchet MS"/>
                <a:sym typeface="Trebuchet MS"/>
              </a:rPr>
              <a:t>The Un-Optimized </a:t>
            </a:r>
            <a:r>
              <a:rPr lang="en-US" sz="3000" b="1">
                <a:solidFill>
                  <a:srgbClr val="0A3D62"/>
                </a:solidFill>
                <a:latin typeface="Trebuchet MS"/>
                <a:ea typeface="Trebuchet MS"/>
                <a:cs typeface="Trebuchet MS"/>
                <a:sym typeface="Trebuchet MS"/>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Market</a:t>
            </a:r>
            <a:endParaRPr sz="3000">
              <a:solidFill>
                <a:schemeClr val="dk1"/>
              </a:solidFill>
              <a:latin typeface="Calibri"/>
              <a:ea typeface="Calibri"/>
              <a:cs typeface="Calibri"/>
              <a:sym typeface="Calibri"/>
            </a:endParaRPr>
          </a:p>
        </p:txBody>
      </p:sp>
      <p:sp>
        <p:nvSpPr>
          <p:cNvPr id="61" name="Google Shape;61;p3"/>
          <p:cNvSpPr/>
          <p:nvPr/>
        </p:nvSpPr>
        <p:spPr>
          <a:xfrm>
            <a:off x="581025" y="685800"/>
            <a:ext cx="8345615" cy="21327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1200"/>
              <a:buFont typeface="Arial"/>
              <a:buNone/>
            </a:pPr>
            <a:r>
              <a:rPr lang="en-US" sz="1200">
                <a:solidFill>
                  <a:srgbClr val="6C757D"/>
                </a:solidFill>
                <a:latin typeface="Arial"/>
                <a:ea typeface="Arial"/>
                <a:cs typeface="Arial"/>
                <a:sym typeface="Arial"/>
              </a:rPr>
              <a:t>650+ Shortlines in North America</a:t>
            </a:r>
            <a:endParaRPr sz="1200">
              <a:solidFill>
                <a:schemeClr val="dk1"/>
              </a:solidFill>
              <a:latin typeface="Calibri"/>
              <a:ea typeface="Calibri"/>
              <a:cs typeface="Calibri"/>
              <a:sym typeface="Calibri"/>
            </a:endParaRPr>
          </a:p>
        </p:txBody>
      </p:sp>
      <p:sp>
        <p:nvSpPr>
          <p:cNvPr id="62" name="Google Shape;62;p3"/>
          <p:cNvSpPr/>
          <p:nvPr/>
        </p:nvSpPr>
        <p:spPr>
          <a:xfrm>
            <a:off x="381000" y="1241971"/>
            <a:ext cx="8382000" cy="1222921"/>
          </a:xfrm>
          <a:prstGeom prst="roundRect">
            <a:avLst>
              <a:gd name="adj" fmla="val 3739"/>
            </a:avLst>
          </a:prstGeom>
          <a:solidFill>
            <a:srgbClr val="F8F9FA"/>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3" name="Google Shape;63;p3"/>
          <p:cNvSpPr/>
          <p:nvPr/>
        </p:nvSpPr>
        <p:spPr>
          <a:xfrm>
            <a:off x="609600" y="1470571"/>
            <a:ext cx="8083296" cy="25137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650"/>
              <a:buFont typeface="Trebuchet MS"/>
              <a:buNone/>
            </a:pPr>
            <a:r>
              <a:rPr lang="en-US" sz="1650" b="1">
                <a:solidFill>
                  <a:srgbClr val="0A3D62"/>
                </a:solidFill>
                <a:latin typeface="Trebuchet MS"/>
                <a:ea typeface="Trebuchet MS"/>
                <a:cs typeface="Trebuchet MS"/>
                <a:sym typeface="Trebuchet MS"/>
              </a:rPr>
              <a:t>Class I Heavy Automation ≠ Shortline Reality</a:t>
            </a:r>
            <a:endParaRPr sz="1650">
              <a:solidFill>
                <a:schemeClr val="dk1"/>
              </a:solidFill>
              <a:latin typeface="Calibri"/>
              <a:ea typeface="Calibri"/>
              <a:cs typeface="Calibri"/>
              <a:sym typeface="Calibri"/>
            </a:endParaRPr>
          </a:p>
        </p:txBody>
      </p:sp>
      <p:sp>
        <p:nvSpPr>
          <p:cNvPr id="64" name="Google Shape;64;p3"/>
          <p:cNvSpPr/>
          <p:nvPr/>
        </p:nvSpPr>
        <p:spPr>
          <a:xfrm>
            <a:off x="609600" y="1836241"/>
            <a:ext cx="8083296" cy="400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a:solidFill>
                  <a:srgbClr val="1A1A1A"/>
                </a:solidFill>
                <a:latin typeface="Arial"/>
                <a:ea typeface="Arial"/>
                <a:cs typeface="Arial"/>
                <a:sym typeface="Arial"/>
              </a:rPr>
              <a:t>Current market leaders like </a:t>
            </a:r>
            <a:r>
              <a:rPr lang="en-US" sz="1050" b="1">
                <a:solidFill>
                  <a:srgbClr val="1A1A1A"/>
                </a:solidFill>
                <a:latin typeface="Arial"/>
                <a:ea typeface="Arial"/>
                <a:cs typeface="Arial"/>
                <a:sym typeface="Arial"/>
              </a:rPr>
              <a:t>GE/Wabtec (Trip Optimizer)</a:t>
            </a:r>
            <a:r>
              <a:rPr lang="en-US" sz="1050">
                <a:solidFill>
                  <a:srgbClr val="1A1A1A"/>
                </a:solidFill>
                <a:latin typeface="Arial"/>
                <a:ea typeface="Arial"/>
                <a:cs typeface="Arial"/>
                <a:sym typeface="Arial"/>
              </a:rPr>
              <a:t> are built for Class I high-volume mainline operations. Their solutions require heavy onboard hardware and long installation cycles that don't fit the regional road model.</a:t>
            </a:r>
            <a:endParaRPr sz="1050">
              <a:solidFill>
                <a:schemeClr val="dk1"/>
              </a:solidFill>
              <a:latin typeface="Calibri"/>
              <a:ea typeface="Calibri"/>
              <a:cs typeface="Calibri"/>
              <a:sym typeface="Calibri"/>
            </a:endParaRPr>
          </a:p>
        </p:txBody>
      </p:sp>
      <p:sp>
        <p:nvSpPr>
          <p:cNvPr id="65" name="Google Shape;65;p3"/>
          <p:cNvSpPr/>
          <p:nvPr/>
        </p:nvSpPr>
        <p:spPr>
          <a:xfrm>
            <a:off x="381000" y="2655391"/>
            <a:ext cx="2692450" cy="1773436"/>
          </a:xfrm>
          <a:prstGeom prst="roundRect">
            <a:avLst>
              <a:gd name="adj" fmla="val 2578"/>
            </a:avLst>
          </a:prstGeom>
          <a:solidFill>
            <a:srgbClr val="0A3D6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6" name="Google Shape;66;p3"/>
          <p:cNvSpPr/>
          <p:nvPr/>
        </p:nvSpPr>
        <p:spPr>
          <a:xfrm>
            <a:off x="609600" y="2883991"/>
            <a:ext cx="457200" cy="457200"/>
          </a:xfrm>
          <a:prstGeom prst="roundRect">
            <a:avLst>
              <a:gd name="adj" fmla="val 200000"/>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7" name="Google Shape;67;p3"/>
          <p:cNvSpPr/>
          <p:nvPr/>
        </p:nvSpPr>
        <p:spPr>
          <a:xfrm>
            <a:off x="609600" y="3455491"/>
            <a:ext cx="2279955" cy="18276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200"/>
              <a:buFont typeface="Trebuchet MS"/>
              <a:buNone/>
            </a:pPr>
            <a:r>
              <a:rPr lang="en-US" sz="1200" b="1">
                <a:solidFill>
                  <a:srgbClr val="FFFFFF"/>
                </a:solidFill>
                <a:latin typeface="Trebuchet MS"/>
                <a:ea typeface="Trebuchet MS"/>
                <a:cs typeface="Trebuchet MS"/>
                <a:sym typeface="Trebuchet MS"/>
              </a:rPr>
              <a:t>Targeting the Gap</a:t>
            </a:r>
            <a:endParaRPr sz="1200">
              <a:solidFill>
                <a:schemeClr val="dk1"/>
              </a:solidFill>
              <a:latin typeface="Calibri"/>
              <a:ea typeface="Calibri"/>
              <a:cs typeface="Calibri"/>
              <a:sym typeface="Calibri"/>
            </a:endParaRPr>
          </a:p>
        </p:txBody>
      </p:sp>
      <p:sp>
        <p:nvSpPr>
          <p:cNvPr id="68" name="Google Shape;68;p3"/>
          <p:cNvSpPr/>
          <p:nvPr/>
        </p:nvSpPr>
        <p:spPr>
          <a:xfrm>
            <a:off x="609600" y="3828752"/>
            <a:ext cx="2279955" cy="371475"/>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650 North American railroads with </a:t>
            </a:r>
            <a:r>
              <a:rPr lang="en-US" sz="975" b="1">
                <a:solidFill>
                  <a:srgbClr val="FFFFFF"/>
                </a:solidFill>
                <a:latin typeface="Arial"/>
                <a:ea typeface="Arial"/>
                <a:cs typeface="Arial"/>
                <a:sym typeface="Arial"/>
              </a:rPr>
              <a:t>$750M in annual fuel spend</a:t>
            </a:r>
            <a:endParaRPr sz="975">
              <a:solidFill>
                <a:schemeClr val="dk1"/>
              </a:solidFill>
              <a:latin typeface="Calibri"/>
              <a:ea typeface="Calibri"/>
              <a:cs typeface="Calibri"/>
              <a:sym typeface="Calibri"/>
            </a:endParaRPr>
          </a:p>
        </p:txBody>
      </p:sp>
      <p:sp>
        <p:nvSpPr>
          <p:cNvPr id="69" name="Google Shape;69;p3"/>
          <p:cNvSpPr/>
          <p:nvPr/>
        </p:nvSpPr>
        <p:spPr>
          <a:xfrm>
            <a:off x="3225850" y="2655391"/>
            <a:ext cx="2692450" cy="1773436"/>
          </a:xfrm>
          <a:prstGeom prst="roundRect">
            <a:avLst>
              <a:gd name="adj" fmla="val 2578"/>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0" name="Google Shape;70;p3"/>
          <p:cNvSpPr/>
          <p:nvPr/>
        </p:nvSpPr>
        <p:spPr>
          <a:xfrm>
            <a:off x="3454450" y="2883991"/>
            <a:ext cx="457200" cy="457200"/>
          </a:xfrm>
          <a:prstGeom prst="roundRect">
            <a:avLst>
              <a:gd name="adj" fmla="val 200000"/>
            </a:avLst>
          </a:prstGeom>
          <a:solidFill>
            <a:srgbClr val="0A3D6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1" name="Google Shape;71;p3"/>
          <p:cNvSpPr/>
          <p:nvPr/>
        </p:nvSpPr>
        <p:spPr>
          <a:xfrm>
            <a:off x="3454450" y="3455491"/>
            <a:ext cx="2279955" cy="18276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FFFF"/>
              </a:buClr>
              <a:buSzPts val="1200"/>
              <a:buFont typeface="Trebuchet MS"/>
              <a:buNone/>
            </a:pPr>
            <a:r>
              <a:rPr lang="en-US" sz="1200" b="1">
                <a:solidFill>
                  <a:srgbClr val="FFFFFF"/>
                </a:solidFill>
                <a:latin typeface="Trebuchet MS"/>
                <a:ea typeface="Trebuchet MS"/>
                <a:cs typeface="Trebuchet MS"/>
                <a:sym typeface="Trebuchet MS"/>
              </a:rPr>
              <a:t>Software-First</a:t>
            </a:r>
            <a:endParaRPr sz="1200">
              <a:solidFill>
                <a:schemeClr val="dk1"/>
              </a:solidFill>
              <a:latin typeface="Calibri"/>
              <a:ea typeface="Calibri"/>
              <a:cs typeface="Calibri"/>
              <a:sym typeface="Calibri"/>
            </a:endParaRPr>
          </a:p>
        </p:txBody>
      </p:sp>
      <p:sp>
        <p:nvSpPr>
          <p:cNvPr id="72" name="Google Shape;72;p3"/>
          <p:cNvSpPr/>
          <p:nvPr/>
        </p:nvSpPr>
        <p:spPr>
          <a:xfrm>
            <a:off x="3454450" y="3828752"/>
            <a:ext cx="2279955" cy="371475"/>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A tablet-based </a:t>
            </a:r>
            <a:r>
              <a:rPr lang="en-US" sz="975">
                <a:solidFill>
                  <a:srgbClr val="FFFFFF"/>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navigation</a:t>
            </a:r>
            <a:r>
              <a:rPr lang="en-US" sz="975">
                <a:solidFill>
                  <a:srgbClr val="FFFFFF"/>
                </a:solidFill>
                <a:latin typeface="Arial"/>
                <a:ea typeface="Arial"/>
                <a:cs typeface="Arial"/>
                <a:sym typeface="Arial"/>
              </a:rPr>
              <a:t> system that crews can deploy in </a:t>
            </a:r>
            <a:r>
              <a:rPr lang="en-US" sz="975" b="1">
                <a:solidFill>
                  <a:srgbClr val="FFFFFF"/>
                </a:solidFill>
                <a:latin typeface="Arial"/>
                <a:ea typeface="Arial"/>
                <a:cs typeface="Arial"/>
                <a:sym typeface="Arial"/>
              </a:rPr>
              <a:t>a day, not a year</a:t>
            </a:r>
            <a:endParaRPr sz="975">
              <a:solidFill>
                <a:schemeClr val="dk1"/>
              </a:solidFill>
              <a:latin typeface="Calibri"/>
              <a:ea typeface="Calibri"/>
              <a:cs typeface="Calibri"/>
              <a:sym typeface="Calibri"/>
            </a:endParaRPr>
          </a:p>
        </p:txBody>
      </p:sp>
      <p:sp>
        <p:nvSpPr>
          <p:cNvPr id="73" name="Google Shape;73;p3"/>
          <p:cNvSpPr/>
          <p:nvPr/>
        </p:nvSpPr>
        <p:spPr>
          <a:xfrm>
            <a:off x="6070699" y="2655391"/>
            <a:ext cx="2692450" cy="1773436"/>
          </a:xfrm>
          <a:prstGeom prst="roundRect">
            <a:avLst>
              <a:gd name="adj" fmla="val 2578"/>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4" name="Google Shape;74;p3"/>
          <p:cNvSpPr/>
          <p:nvPr/>
        </p:nvSpPr>
        <p:spPr>
          <a:xfrm>
            <a:off x="6299299" y="2883991"/>
            <a:ext cx="457200" cy="457200"/>
          </a:xfrm>
          <a:prstGeom prst="roundRect">
            <a:avLst>
              <a:gd name="adj" fmla="val 200000"/>
            </a:avLst>
          </a:prstGeom>
          <a:solidFill>
            <a:srgbClr val="0A3D6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5" name="Google Shape;75;p3"/>
          <p:cNvSpPr/>
          <p:nvPr/>
        </p:nvSpPr>
        <p:spPr>
          <a:xfrm>
            <a:off x="6299299" y="3455491"/>
            <a:ext cx="2279955" cy="18276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A1A1A"/>
              </a:buClr>
              <a:buSzPts val="1200"/>
              <a:buFont typeface="Trebuchet MS"/>
              <a:buNone/>
            </a:pPr>
            <a:r>
              <a:rPr lang="en-US" sz="1200" b="1">
                <a:solidFill>
                  <a:srgbClr val="1A1A1A"/>
                </a:solidFill>
                <a:latin typeface="Trebuchet MS"/>
                <a:ea typeface="Trebuchet MS"/>
                <a:cs typeface="Trebuchet MS"/>
                <a:sym typeface="Trebuchet MS"/>
              </a:rPr>
              <a:t>Proven Adoption</a:t>
            </a:r>
            <a:endParaRPr sz="1200">
              <a:solidFill>
                <a:schemeClr val="dk1"/>
              </a:solidFill>
              <a:latin typeface="Calibri"/>
              <a:ea typeface="Calibri"/>
              <a:cs typeface="Calibri"/>
              <a:sym typeface="Calibri"/>
            </a:endParaRPr>
          </a:p>
        </p:txBody>
      </p:sp>
      <p:sp>
        <p:nvSpPr>
          <p:cNvPr id="76" name="Google Shape;76;p3"/>
          <p:cNvSpPr/>
          <p:nvPr/>
        </p:nvSpPr>
        <p:spPr>
          <a:xfrm>
            <a:off x="6348282" y="3782611"/>
            <a:ext cx="2279955" cy="371475"/>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1A1A1A"/>
              </a:buClr>
              <a:buSzPts val="975"/>
              <a:buFont typeface="Arial"/>
              <a:buNone/>
            </a:pPr>
            <a:r>
              <a:rPr lang="en-US" sz="975">
                <a:solidFill>
                  <a:srgbClr val="1A1A1A"/>
                </a:solidFill>
                <a:latin typeface="Arial"/>
                <a:ea typeface="Arial"/>
                <a:cs typeface="Arial"/>
                <a:sym typeface="Arial"/>
              </a:rPr>
              <a:t>Purpose-built for frequent locomotive switching that </a:t>
            </a:r>
            <a:r>
              <a:rPr lang="en-US" sz="975" b="1">
                <a:solidFill>
                  <a:srgbClr val="1A1A1A"/>
                </a:solidFill>
                <a:latin typeface="Arial"/>
                <a:ea typeface="Arial"/>
                <a:cs typeface="Arial"/>
                <a:sym typeface="Arial"/>
              </a:rPr>
              <a:t>legacy tech ignores</a:t>
            </a:r>
            <a:endParaRPr sz="975">
              <a:solidFill>
                <a:schemeClr val="dk1"/>
              </a:solidFill>
              <a:latin typeface="Calibri"/>
              <a:ea typeface="Calibri"/>
              <a:cs typeface="Calibri"/>
              <a:sym typeface="Calibri"/>
            </a:endParaRPr>
          </a:p>
        </p:txBody>
      </p:sp>
      <p:sp>
        <p:nvSpPr>
          <p:cNvPr id="77" name="Google Shape;77;p3"/>
          <p:cNvSpPr/>
          <p:nvPr/>
        </p:nvSpPr>
        <p:spPr>
          <a:xfrm>
            <a:off x="381000" y="4781550"/>
            <a:ext cx="8549640" cy="1333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750"/>
              <a:buFont typeface="Arial"/>
              <a:buNone/>
            </a:pPr>
            <a:r>
              <a:rPr lang="en-US" sz="750">
                <a:solidFill>
                  <a:srgbClr val="6C757D"/>
                </a:solidFill>
                <a:latin typeface="Arial"/>
                <a:ea typeface="Arial"/>
                <a:cs typeface="Arial"/>
                <a:sym typeface="Arial"/>
              </a:rPr>
              <a:t>Railvision.cn | Confidential</a:t>
            </a:r>
            <a:endParaRPr sz="750">
              <a:solidFill>
                <a:schemeClr val="dk1"/>
              </a:solidFill>
              <a:latin typeface="Calibri"/>
              <a:ea typeface="Calibri"/>
              <a:cs typeface="Calibri"/>
              <a:sym typeface="Calibri"/>
            </a:endParaRPr>
          </a:p>
        </p:txBody>
      </p:sp>
      <p:sp>
        <p:nvSpPr>
          <p:cNvPr id="78" name="Google Shape;78;p3"/>
          <p:cNvSpPr/>
          <p:nvPr/>
        </p:nvSpPr>
        <p:spPr>
          <a:xfrm>
            <a:off x="894588" y="3000312"/>
            <a:ext cx="344424" cy="214553"/>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3"/>
          <p:cNvSpPr txBox="1"/>
          <p:nvPr/>
        </p:nvSpPr>
        <p:spPr>
          <a:xfrm>
            <a:off x="1295400" y="2918102"/>
            <a:ext cx="14484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Saves Money</a:t>
            </a:r>
            <a:endParaRPr/>
          </a:p>
        </p:txBody>
      </p:sp>
      <p:sp>
        <p:nvSpPr>
          <p:cNvPr id="80" name="Google Shape;80;p3"/>
          <p:cNvSpPr/>
          <p:nvPr/>
        </p:nvSpPr>
        <p:spPr>
          <a:xfrm>
            <a:off x="3739438" y="2997933"/>
            <a:ext cx="344424" cy="214553"/>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81" name="Google Shape;81;p3"/>
          <p:cNvSpPr txBox="1"/>
          <p:nvPr/>
        </p:nvSpPr>
        <p:spPr>
          <a:xfrm>
            <a:off x="4140250" y="2915723"/>
            <a:ext cx="14484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Easily Used</a:t>
            </a:r>
            <a:endParaRPr/>
          </a:p>
        </p:txBody>
      </p:sp>
      <p:sp>
        <p:nvSpPr>
          <p:cNvPr id="82" name="Google Shape;82;p3"/>
          <p:cNvSpPr/>
          <p:nvPr/>
        </p:nvSpPr>
        <p:spPr>
          <a:xfrm>
            <a:off x="6569202" y="3004033"/>
            <a:ext cx="344424" cy="214553"/>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3"/>
          <p:cNvSpPr txBox="1"/>
          <p:nvPr/>
        </p:nvSpPr>
        <p:spPr>
          <a:xfrm>
            <a:off x="6970013" y="2921823"/>
            <a:ext cx="17931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Standardizes Ops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
        <p:cNvGrpSpPr/>
        <p:nvPr/>
      </p:nvGrpSpPr>
      <p:grpSpPr>
        <a:xfrm>
          <a:off x="0" y="0"/>
          <a:ext cx="0" cy="0"/>
          <a:chOff x="0" y="0"/>
          <a:chExt cx="0" cy="0"/>
        </a:xfrm>
      </p:grpSpPr>
      <p:sp>
        <p:nvSpPr>
          <p:cNvPr id="89" name="Google Shape;89;p4"/>
          <p:cNvSpPr/>
          <p:nvPr/>
        </p:nvSpPr>
        <p:spPr>
          <a:xfrm>
            <a:off x="190500" y="247650"/>
            <a:ext cx="47625" cy="342900"/>
          </a:xfrm>
          <a:prstGeom prst="rect">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90" name="Google Shape;90;p4"/>
          <p:cNvSpPr/>
          <p:nvPr/>
        </p:nvSpPr>
        <p:spPr>
          <a:xfrm>
            <a:off x="484403" y="273187"/>
            <a:ext cx="7641696"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A3D62"/>
              </a:buClr>
              <a:buSzPts val="3000"/>
              <a:buFont typeface="Trebuchet MS"/>
              <a:buNone/>
            </a:pPr>
            <a:r>
              <a:rPr lang="en-US" sz="3000" b="1">
                <a:solidFill>
                  <a:srgbClr val="0A3D62"/>
                </a:solidFill>
                <a:latin typeface="Trebuchet MS"/>
                <a:ea typeface="Trebuchet MS"/>
                <a:cs typeface="Trebuchet MS"/>
                <a:sym typeface="Trebuchet MS"/>
              </a:rPr>
              <a:t>Gainshare Economics + Strategic Anchor</a:t>
            </a:r>
            <a:endParaRPr sz="3000">
              <a:solidFill>
                <a:schemeClr val="dk1"/>
              </a:solidFill>
              <a:latin typeface="Calibri"/>
              <a:ea typeface="Calibri"/>
              <a:cs typeface="Calibri"/>
              <a:sym typeface="Calibri"/>
            </a:endParaRPr>
          </a:p>
        </p:txBody>
      </p:sp>
      <p:sp>
        <p:nvSpPr>
          <p:cNvPr id="91" name="Google Shape;91;p4"/>
          <p:cNvSpPr/>
          <p:nvPr/>
        </p:nvSpPr>
        <p:spPr>
          <a:xfrm>
            <a:off x="381000" y="1314004"/>
            <a:ext cx="2934081" cy="507802"/>
          </a:xfrm>
          <a:prstGeom prst="rect">
            <a:avLst/>
          </a:prstGeom>
          <a:noFill/>
          <a:ln>
            <a:noFill/>
          </a:ln>
        </p:spPr>
        <p:txBody>
          <a:bodyPr spcFirstLastPara="1" wrap="square" lIns="0" tIns="0" rIns="0" bIns="0" anchor="t" anchorCtr="0">
            <a:noAutofit/>
          </a:bodyPr>
          <a:lstStyle/>
          <a:p>
            <a:pPr marL="0" marR="0" lvl="0" indent="0" algn="l" rtl="0">
              <a:lnSpc>
                <a:spcPct val="111111"/>
              </a:lnSpc>
              <a:spcBef>
                <a:spcPts val="0"/>
              </a:spcBef>
              <a:spcAft>
                <a:spcPts val="0"/>
              </a:spcAft>
              <a:buClr>
                <a:srgbClr val="0A3D62"/>
              </a:buClr>
              <a:buSzPts val="1800"/>
              <a:buFont typeface="Trebuchet MS"/>
              <a:buNone/>
            </a:pPr>
            <a:r>
              <a:rPr lang="en-US" sz="1800">
                <a:solidFill>
                  <a:srgbClr val="0A3D62"/>
                </a:solidFill>
                <a:latin typeface="Trebuchet MS"/>
                <a:ea typeface="Trebuchet MS"/>
                <a:cs typeface="Trebuchet MS"/>
                <a:sym typeface="Trebuchet MS"/>
              </a:rPr>
              <a:t>Zero Upfront Cost.</a:t>
            </a:r>
            <a:endParaRPr sz="1800">
              <a:solidFill>
                <a:schemeClr val="dk1"/>
              </a:solidFill>
              <a:latin typeface="Calibri"/>
              <a:ea typeface="Calibri"/>
              <a:cs typeface="Calibri"/>
              <a:sym typeface="Calibri"/>
            </a:endParaRPr>
          </a:p>
          <a:p>
            <a:pPr marL="0" marR="0" lvl="0" indent="0" algn="l" rtl="0">
              <a:lnSpc>
                <a:spcPct val="111111"/>
              </a:lnSpc>
              <a:spcBef>
                <a:spcPts val="600"/>
              </a:spcBef>
              <a:spcAft>
                <a:spcPts val="0"/>
              </a:spcAft>
              <a:buClr>
                <a:srgbClr val="0A3D62"/>
              </a:buClr>
              <a:buSzPts val="1800"/>
              <a:buFont typeface="Trebuchet MS"/>
              <a:buNone/>
            </a:pPr>
            <a:r>
              <a:rPr lang="en-US" sz="1800">
                <a:solidFill>
                  <a:srgbClr val="0A3D62"/>
                </a:solidFill>
                <a:latin typeface="Trebuchet MS"/>
                <a:ea typeface="Trebuchet MS"/>
                <a:cs typeface="Trebuchet MS"/>
                <a:sym typeface="Trebuchet MS"/>
              </a:rPr>
              <a:t>100% Incentive Alignment.</a:t>
            </a:r>
            <a:endParaRPr sz="1800">
              <a:solidFill>
                <a:schemeClr val="dk1"/>
              </a:solidFill>
              <a:latin typeface="Calibri"/>
              <a:ea typeface="Calibri"/>
              <a:cs typeface="Calibri"/>
              <a:sym typeface="Calibri"/>
            </a:endParaRPr>
          </a:p>
        </p:txBody>
      </p:sp>
      <p:sp>
        <p:nvSpPr>
          <p:cNvPr id="92" name="Google Shape;92;p4"/>
          <p:cNvSpPr/>
          <p:nvPr/>
        </p:nvSpPr>
        <p:spPr>
          <a:xfrm>
            <a:off x="381000" y="1898005"/>
            <a:ext cx="4197096" cy="200025"/>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6C757D"/>
              </a:buClr>
              <a:buSzPts val="1050"/>
              <a:buFont typeface="Arial"/>
              <a:buNone/>
            </a:pPr>
            <a:r>
              <a:rPr lang="en-US" sz="1050">
                <a:solidFill>
                  <a:srgbClr val="6C757D"/>
                </a:solidFill>
                <a:latin typeface="Arial"/>
                <a:ea typeface="Arial"/>
                <a:cs typeface="Arial"/>
                <a:sym typeface="Arial"/>
              </a:rPr>
              <a:t>Railroads buy risk reduction, not software</a:t>
            </a:r>
            <a:endParaRPr sz="1050">
              <a:solidFill>
                <a:schemeClr val="dk1"/>
              </a:solidFill>
              <a:latin typeface="Calibri"/>
              <a:ea typeface="Calibri"/>
              <a:cs typeface="Calibri"/>
              <a:sym typeface="Calibri"/>
            </a:endParaRPr>
          </a:p>
        </p:txBody>
      </p:sp>
      <p:sp>
        <p:nvSpPr>
          <p:cNvPr id="93" name="Google Shape;93;p4"/>
          <p:cNvSpPr/>
          <p:nvPr/>
        </p:nvSpPr>
        <p:spPr>
          <a:xfrm>
            <a:off x="381000" y="2212330"/>
            <a:ext cx="4114800" cy="2531418"/>
          </a:xfrm>
          <a:prstGeom prst="roundRect">
            <a:avLst>
              <a:gd name="adj" fmla="val 1806"/>
            </a:avLst>
          </a:prstGeom>
          <a:solidFill>
            <a:srgbClr val="F8F9FA"/>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94" name="Google Shape;94;p4"/>
          <p:cNvSpPr/>
          <p:nvPr/>
        </p:nvSpPr>
        <p:spPr>
          <a:xfrm>
            <a:off x="571500" y="2402830"/>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900"/>
              <a:buFont typeface="Arial"/>
              <a:buNone/>
            </a:pPr>
            <a:r>
              <a:rPr lang="en-US" sz="900" b="1">
                <a:solidFill>
                  <a:srgbClr val="00C9A7"/>
                </a:solidFill>
                <a:latin typeface="Arial"/>
                <a:ea typeface="Arial"/>
                <a:cs typeface="Arial"/>
                <a:sym typeface="Arial"/>
              </a:rPr>
              <a:t>THE DEAL</a:t>
            </a:r>
            <a:endParaRPr sz="900">
              <a:solidFill>
                <a:schemeClr val="dk1"/>
              </a:solidFill>
              <a:latin typeface="Calibri"/>
              <a:ea typeface="Calibri"/>
              <a:cs typeface="Calibri"/>
              <a:sym typeface="Calibri"/>
            </a:endParaRPr>
          </a:p>
        </p:txBody>
      </p:sp>
      <p:sp>
        <p:nvSpPr>
          <p:cNvPr id="95" name="Google Shape;95;p4"/>
          <p:cNvSpPr/>
          <p:nvPr/>
        </p:nvSpPr>
        <p:spPr>
          <a:xfrm>
            <a:off x="571500" y="2600920"/>
            <a:ext cx="3808476" cy="3199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2100"/>
              <a:buFont typeface="Trebuchet MS"/>
              <a:buNone/>
            </a:pPr>
            <a:r>
              <a:rPr lang="en-US" sz="2100" b="1">
                <a:solidFill>
                  <a:srgbClr val="0A3D62"/>
                </a:solidFill>
                <a:latin typeface="Trebuchet MS"/>
                <a:ea typeface="Trebuchet MS"/>
                <a:cs typeface="Trebuchet MS"/>
                <a:sym typeface="Trebuchet MS"/>
              </a:rPr>
              <a:t>$0 Upfront</a:t>
            </a:r>
            <a:endParaRPr sz="2100">
              <a:solidFill>
                <a:schemeClr val="dk1"/>
              </a:solidFill>
              <a:latin typeface="Calibri"/>
              <a:ea typeface="Calibri"/>
              <a:cs typeface="Calibri"/>
              <a:sym typeface="Calibri"/>
            </a:endParaRPr>
          </a:p>
        </p:txBody>
      </p:sp>
      <p:sp>
        <p:nvSpPr>
          <p:cNvPr id="96" name="Google Shape;96;p4"/>
          <p:cNvSpPr/>
          <p:nvPr/>
        </p:nvSpPr>
        <p:spPr>
          <a:xfrm>
            <a:off x="571500" y="3073301"/>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900"/>
              <a:buFont typeface="Arial"/>
              <a:buNone/>
            </a:pPr>
            <a:r>
              <a:rPr lang="en-US" sz="900" b="1">
                <a:solidFill>
                  <a:srgbClr val="00C9A7"/>
                </a:solidFill>
                <a:latin typeface="Arial"/>
                <a:ea typeface="Arial"/>
                <a:cs typeface="Arial"/>
                <a:sym typeface="Arial"/>
              </a:rPr>
              <a:t>THE REVENUE</a:t>
            </a:r>
            <a:endParaRPr sz="900">
              <a:solidFill>
                <a:schemeClr val="dk1"/>
              </a:solidFill>
              <a:latin typeface="Calibri"/>
              <a:ea typeface="Calibri"/>
              <a:cs typeface="Calibri"/>
              <a:sym typeface="Calibri"/>
            </a:endParaRPr>
          </a:p>
        </p:txBody>
      </p:sp>
      <p:sp>
        <p:nvSpPr>
          <p:cNvPr id="97" name="Google Shape;97;p4"/>
          <p:cNvSpPr/>
          <p:nvPr/>
        </p:nvSpPr>
        <p:spPr>
          <a:xfrm>
            <a:off x="571500" y="3271391"/>
            <a:ext cx="3808476" cy="3199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2100"/>
              <a:buFont typeface="Trebuchet MS"/>
              <a:buNone/>
            </a:pPr>
            <a:r>
              <a:rPr lang="en-US" sz="2100" b="1">
                <a:solidFill>
                  <a:srgbClr val="0A3D62"/>
                </a:solidFill>
                <a:latin typeface="Trebuchet MS"/>
                <a:ea typeface="Trebuchet MS"/>
                <a:cs typeface="Trebuchet MS"/>
                <a:sym typeface="Trebuchet MS"/>
              </a:rPr>
              <a:t>30%</a:t>
            </a:r>
            <a:endParaRPr sz="2100">
              <a:solidFill>
                <a:schemeClr val="dk1"/>
              </a:solidFill>
              <a:latin typeface="Calibri"/>
              <a:ea typeface="Calibri"/>
              <a:cs typeface="Calibri"/>
              <a:sym typeface="Calibri"/>
            </a:endParaRPr>
          </a:p>
        </p:txBody>
      </p:sp>
      <p:sp>
        <p:nvSpPr>
          <p:cNvPr id="98" name="Google Shape;98;p4"/>
          <p:cNvSpPr/>
          <p:nvPr/>
        </p:nvSpPr>
        <p:spPr>
          <a:xfrm>
            <a:off x="571500" y="3629471"/>
            <a:ext cx="3808476" cy="17323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975"/>
              <a:buFont typeface="Arial"/>
              <a:buNone/>
            </a:pPr>
            <a:r>
              <a:rPr lang="en-US" sz="975">
                <a:solidFill>
                  <a:srgbClr val="1A1A1A"/>
                </a:solidFill>
                <a:latin typeface="Arial"/>
                <a:ea typeface="Arial"/>
                <a:cs typeface="Arial"/>
                <a:sym typeface="Arial"/>
              </a:rPr>
              <a:t>of documented monthly fuel cost reduction</a:t>
            </a:r>
            <a:endParaRPr sz="975">
              <a:solidFill>
                <a:schemeClr val="dk1"/>
              </a:solidFill>
              <a:latin typeface="Calibri"/>
              <a:ea typeface="Calibri"/>
              <a:cs typeface="Calibri"/>
              <a:sym typeface="Calibri"/>
            </a:endParaRPr>
          </a:p>
        </p:txBody>
      </p:sp>
      <p:sp>
        <p:nvSpPr>
          <p:cNvPr id="99" name="Google Shape;99;p4"/>
          <p:cNvSpPr/>
          <p:nvPr/>
        </p:nvSpPr>
        <p:spPr>
          <a:xfrm>
            <a:off x="571500" y="3955107"/>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900"/>
              <a:buFont typeface="Arial"/>
              <a:buNone/>
            </a:pPr>
            <a:r>
              <a:rPr lang="en-US" sz="900" b="1">
                <a:solidFill>
                  <a:srgbClr val="00C9A7"/>
                </a:solidFill>
                <a:latin typeface="Arial"/>
                <a:ea typeface="Arial"/>
                <a:cs typeface="Arial"/>
                <a:sym typeface="Arial"/>
              </a:rPr>
              <a:t>THE ACCELERATION</a:t>
            </a:r>
            <a:endParaRPr sz="900">
              <a:solidFill>
                <a:schemeClr val="dk1"/>
              </a:solidFill>
              <a:latin typeface="Calibri"/>
              <a:ea typeface="Calibri"/>
              <a:cs typeface="Calibri"/>
              <a:sym typeface="Calibri"/>
            </a:endParaRPr>
          </a:p>
        </p:txBody>
      </p:sp>
      <p:sp>
        <p:nvSpPr>
          <p:cNvPr id="100" name="Google Shape;100;p4"/>
          <p:cNvSpPr/>
          <p:nvPr/>
        </p:nvSpPr>
        <p:spPr>
          <a:xfrm>
            <a:off x="571500" y="4153198"/>
            <a:ext cx="3808476" cy="400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1A1A1A"/>
              </a:buClr>
              <a:buSzPts val="1050"/>
              <a:buFont typeface="Arial"/>
              <a:buNone/>
            </a:pPr>
            <a:r>
              <a:rPr lang="en-US" sz="1050" b="1">
                <a:solidFill>
                  <a:srgbClr val="1A1A1A"/>
                </a:solidFill>
                <a:latin typeface="Arial"/>
                <a:ea typeface="Arial"/>
                <a:cs typeface="Arial"/>
                <a:sym typeface="Arial"/>
              </a:rPr>
              <a:t>90-day implementation</a:t>
            </a:r>
            <a:r>
              <a:rPr lang="en-US" sz="1050">
                <a:solidFill>
                  <a:srgbClr val="1A1A1A"/>
                </a:solidFill>
                <a:latin typeface="Arial"/>
                <a:ea typeface="Arial"/>
                <a:cs typeface="Arial"/>
                <a:sym typeface="Arial"/>
              </a:rPr>
              <a:t> sprint (vs. two-year-plus traditional sales cycle)</a:t>
            </a:r>
            <a:endParaRPr sz="1050">
              <a:solidFill>
                <a:schemeClr val="dk1"/>
              </a:solidFill>
              <a:latin typeface="Calibri"/>
              <a:ea typeface="Calibri"/>
              <a:cs typeface="Calibri"/>
              <a:sym typeface="Calibri"/>
            </a:endParaRPr>
          </a:p>
        </p:txBody>
      </p:sp>
      <p:sp>
        <p:nvSpPr>
          <p:cNvPr id="101" name="Google Shape;101;p4"/>
          <p:cNvSpPr/>
          <p:nvPr/>
        </p:nvSpPr>
        <p:spPr>
          <a:xfrm>
            <a:off x="4648200" y="1171129"/>
            <a:ext cx="4039362" cy="292001"/>
          </a:xfrm>
          <a:prstGeom prst="rect">
            <a:avLst/>
          </a:prstGeom>
          <a:noFill/>
          <a:ln>
            <a:noFill/>
          </a:ln>
        </p:spPr>
        <p:txBody>
          <a:bodyPr spcFirstLastPara="1" wrap="square" lIns="0" tIns="0" rIns="0" bIns="0" anchor="t" anchorCtr="0">
            <a:noAutofit/>
          </a:bodyPr>
          <a:lstStyle/>
          <a:p>
            <a:pPr marL="0" marR="0" lvl="0" indent="0" algn="l" rtl="0">
              <a:lnSpc>
                <a:spcPct val="111111"/>
              </a:lnSpc>
              <a:spcBef>
                <a:spcPts val="0"/>
              </a:spcBef>
              <a:spcAft>
                <a:spcPts val="0"/>
              </a:spcAft>
              <a:buClr>
                <a:srgbClr val="0A3D62"/>
              </a:buClr>
              <a:buSzPts val="1800"/>
              <a:buFont typeface="Trebuchet MS"/>
              <a:buNone/>
            </a:pPr>
            <a:r>
              <a:rPr lang="en-US" sz="1800" b="1">
                <a:solidFill>
                  <a:srgbClr val="0A3D62"/>
                </a:solidFill>
                <a:latin typeface="Trebuchet MS"/>
                <a:ea typeface="Trebuchet MS"/>
                <a:cs typeface="Trebuchet MS"/>
                <a:sym typeface="Trebuchet MS"/>
              </a:rPr>
              <a:t>Launched: The 90-Day GWRR Sprint</a:t>
            </a:r>
            <a:endParaRPr sz="1800">
              <a:solidFill>
                <a:schemeClr val="dk1"/>
              </a:solidFill>
              <a:latin typeface="Calibri"/>
              <a:ea typeface="Calibri"/>
              <a:cs typeface="Calibri"/>
              <a:sym typeface="Calibri"/>
            </a:endParaRPr>
          </a:p>
        </p:txBody>
      </p:sp>
      <p:sp>
        <p:nvSpPr>
          <p:cNvPr id="102" name="Google Shape;102;p4"/>
          <p:cNvSpPr/>
          <p:nvPr/>
        </p:nvSpPr>
        <p:spPr>
          <a:xfrm>
            <a:off x="4648200" y="1501229"/>
            <a:ext cx="4197096" cy="200025"/>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6C757D"/>
              </a:buClr>
              <a:buSzPts val="1050"/>
              <a:buFont typeface="Arial"/>
              <a:buNone/>
            </a:pPr>
            <a:r>
              <a:rPr lang="en-US" sz="1050">
                <a:solidFill>
                  <a:srgbClr val="6C757D"/>
                </a:solidFill>
                <a:latin typeface="Arial"/>
                <a:ea typeface="Arial"/>
                <a:cs typeface="Arial"/>
                <a:sym typeface="Arial"/>
              </a:rPr>
              <a:t>One Aggregator. 112 Properties. </a:t>
            </a:r>
            <a:r>
              <a:rPr lang="en-US" sz="1050">
                <a:solidFill>
                  <a:srgbClr val="6C757D"/>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82% of 2026 Revenue.</a:t>
            </a:r>
            <a:endParaRPr sz="1050">
              <a:solidFill>
                <a:schemeClr val="dk1"/>
              </a:solidFill>
              <a:latin typeface="Calibri"/>
              <a:ea typeface="Calibri"/>
              <a:cs typeface="Calibri"/>
              <a:sym typeface="Calibri"/>
            </a:endParaRPr>
          </a:p>
        </p:txBody>
      </p:sp>
      <p:pic>
        <p:nvPicPr>
          <p:cNvPr id="103" name="Google Shape;103;p4" descr="/tmp/rasterized-gradient-87b26174.png"/>
          <p:cNvPicPr preferRelativeResize="0"/>
          <p:nvPr/>
        </p:nvPicPr>
        <p:blipFill rotWithShape="1">
          <a:blip r:embed="rId3">
            <a:alphaModFix/>
          </a:blip>
          <a:srcRect/>
          <a:stretch/>
        </p:blipFill>
        <p:spPr>
          <a:xfrm>
            <a:off x="4648200" y="1815554"/>
            <a:ext cx="4114800" cy="2431256"/>
          </a:xfrm>
          <a:prstGeom prst="rect">
            <a:avLst/>
          </a:prstGeom>
          <a:noFill/>
          <a:ln>
            <a:noFill/>
          </a:ln>
        </p:spPr>
      </p:pic>
      <p:sp>
        <p:nvSpPr>
          <p:cNvPr id="104" name="Google Shape;104;p4"/>
          <p:cNvSpPr/>
          <p:nvPr/>
        </p:nvSpPr>
        <p:spPr>
          <a:xfrm>
            <a:off x="4838700" y="2006054"/>
            <a:ext cx="3808476" cy="17323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B627"/>
              </a:buClr>
              <a:buSzPts val="975"/>
              <a:buFont typeface="Arial"/>
              <a:buNone/>
            </a:pPr>
            <a:r>
              <a:rPr lang="en-US" sz="975" b="1">
                <a:solidFill>
                  <a:srgbClr val="FFB627"/>
                </a:solidFill>
                <a:latin typeface="Arial"/>
                <a:ea typeface="Arial"/>
                <a:cs typeface="Arial"/>
                <a:sym typeface="Arial"/>
              </a:rPr>
              <a:t>GENESEE &amp; WYOMING (GWRR)</a:t>
            </a:r>
            <a:endParaRPr sz="975">
              <a:solidFill>
                <a:schemeClr val="dk1"/>
              </a:solidFill>
              <a:latin typeface="Calibri"/>
              <a:ea typeface="Calibri"/>
              <a:cs typeface="Calibri"/>
              <a:sym typeface="Calibri"/>
            </a:endParaRPr>
          </a:p>
        </p:txBody>
      </p:sp>
      <p:sp>
        <p:nvSpPr>
          <p:cNvPr id="105" name="Google Shape;105;p4"/>
          <p:cNvSpPr/>
          <p:nvPr/>
        </p:nvSpPr>
        <p:spPr>
          <a:xfrm>
            <a:off x="4838700" y="2293590"/>
            <a:ext cx="3808476" cy="185738"/>
          </a:xfrm>
          <a:prstGeom prst="rect">
            <a:avLst/>
          </a:prstGeom>
          <a:noFill/>
          <a:ln>
            <a:noFill/>
          </a:ln>
        </p:spPr>
        <p:txBody>
          <a:bodyPr spcFirstLastPara="1" wrap="square" lIns="0" tIns="0" rIns="0" bIns="0" anchor="t" anchorCtr="0">
            <a:noAutofit/>
          </a:bodyPr>
          <a:lstStyle/>
          <a:p>
            <a:pPr marL="0" marR="0" lvl="0" indent="0" algn="l" rtl="0">
              <a:lnSpc>
                <a:spcPct val="150051"/>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Largest shortline aggregator in North America</a:t>
            </a:r>
            <a:endParaRPr sz="975">
              <a:solidFill>
                <a:schemeClr val="dk1"/>
              </a:solidFill>
              <a:latin typeface="Calibri"/>
              <a:ea typeface="Calibri"/>
              <a:cs typeface="Calibri"/>
              <a:sym typeface="Calibri"/>
            </a:endParaRPr>
          </a:p>
        </p:txBody>
      </p:sp>
      <p:cxnSp>
        <p:nvCxnSpPr>
          <p:cNvPr id="106" name="Google Shape;106;p4"/>
          <p:cNvCxnSpPr/>
          <p:nvPr/>
        </p:nvCxnSpPr>
        <p:spPr>
          <a:xfrm>
            <a:off x="4838700" y="2636490"/>
            <a:ext cx="3733800" cy="0"/>
          </a:xfrm>
          <a:prstGeom prst="straightConnector1">
            <a:avLst/>
          </a:prstGeom>
          <a:noFill/>
          <a:ln w="9525" cap="flat" cmpd="sng">
            <a:solidFill>
              <a:srgbClr val="FFFFFF"/>
            </a:solidFill>
            <a:prstDash val="solid"/>
            <a:round/>
            <a:headEnd type="none" w="sm" len="sm"/>
            <a:tailEnd type="none" w="sm" len="sm"/>
          </a:ln>
        </p:spPr>
      </p:cxnSp>
      <p:sp>
        <p:nvSpPr>
          <p:cNvPr id="107" name="Google Shape;107;p4"/>
          <p:cNvSpPr/>
          <p:nvPr/>
        </p:nvSpPr>
        <p:spPr>
          <a:xfrm>
            <a:off x="4838700" y="2793653"/>
            <a:ext cx="3808476"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STEP 1: PILOT</a:t>
            </a:r>
            <a:endParaRPr sz="825">
              <a:solidFill>
                <a:schemeClr val="dk1"/>
              </a:solidFill>
              <a:latin typeface="Calibri"/>
              <a:ea typeface="Calibri"/>
              <a:cs typeface="Calibri"/>
              <a:sym typeface="Calibri"/>
            </a:endParaRPr>
          </a:p>
        </p:txBody>
      </p:sp>
      <p:sp>
        <p:nvSpPr>
          <p:cNvPr id="108" name="Google Shape;108;p4"/>
          <p:cNvSpPr/>
          <p:nvPr/>
        </p:nvSpPr>
        <p:spPr>
          <a:xfrm>
            <a:off x="4838700" y="2978348"/>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3-property agreement to prove 6%+ savings</a:t>
            </a:r>
            <a:endParaRPr sz="900">
              <a:solidFill>
                <a:schemeClr val="dk1"/>
              </a:solidFill>
              <a:latin typeface="Calibri"/>
              <a:ea typeface="Calibri"/>
              <a:cs typeface="Calibri"/>
              <a:sym typeface="Calibri"/>
            </a:endParaRPr>
          </a:p>
        </p:txBody>
      </p:sp>
      <p:sp>
        <p:nvSpPr>
          <p:cNvPr id="109" name="Google Shape;109;p4"/>
          <p:cNvSpPr/>
          <p:nvPr/>
        </p:nvSpPr>
        <p:spPr>
          <a:xfrm>
            <a:off x="4838700" y="3252639"/>
            <a:ext cx="3808476"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STEP 2: VALIDATION</a:t>
            </a:r>
            <a:endParaRPr sz="825">
              <a:solidFill>
                <a:schemeClr val="dk1"/>
              </a:solidFill>
              <a:latin typeface="Calibri"/>
              <a:ea typeface="Calibri"/>
              <a:cs typeface="Calibri"/>
              <a:sym typeface="Calibri"/>
            </a:endParaRPr>
          </a:p>
        </p:txBody>
      </p:sp>
      <p:sp>
        <p:nvSpPr>
          <p:cNvPr id="110" name="Google Shape;110;p4"/>
          <p:cNvSpPr/>
          <p:nvPr/>
        </p:nvSpPr>
        <p:spPr>
          <a:xfrm>
            <a:off x="4838700" y="3437334"/>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Independent finance-level verification in 90 days</a:t>
            </a:r>
            <a:endParaRPr sz="900">
              <a:solidFill>
                <a:schemeClr val="dk1"/>
              </a:solidFill>
              <a:latin typeface="Calibri"/>
              <a:ea typeface="Calibri"/>
              <a:cs typeface="Calibri"/>
              <a:sym typeface="Calibri"/>
            </a:endParaRPr>
          </a:p>
        </p:txBody>
      </p:sp>
      <p:sp>
        <p:nvSpPr>
          <p:cNvPr id="111" name="Google Shape;111;p4"/>
          <p:cNvSpPr/>
          <p:nvPr/>
        </p:nvSpPr>
        <p:spPr>
          <a:xfrm>
            <a:off x="4838700" y="3711625"/>
            <a:ext cx="3808476"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STEP 3: EXPANSION</a:t>
            </a:r>
            <a:endParaRPr sz="825">
              <a:solidFill>
                <a:schemeClr val="dk1"/>
              </a:solidFill>
              <a:latin typeface="Calibri"/>
              <a:ea typeface="Calibri"/>
              <a:cs typeface="Calibri"/>
              <a:sym typeface="Calibri"/>
            </a:endParaRPr>
          </a:p>
        </p:txBody>
      </p:sp>
      <p:sp>
        <p:nvSpPr>
          <p:cNvPr id="112" name="Google Shape;112;p4"/>
          <p:cNvSpPr/>
          <p:nvPr/>
        </p:nvSpPr>
        <p:spPr>
          <a:xfrm>
            <a:off x="4838700" y="3896320"/>
            <a:ext cx="3808476"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10-property rollout → </a:t>
            </a:r>
            <a:r>
              <a:rPr lang="en-US" sz="900" b="1">
                <a:solidFill>
                  <a:srgbClr val="FFFFFF"/>
                </a:solidFill>
                <a:latin typeface="Arial"/>
                <a:ea typeface="Arial"/>
                <a:cs typeface="Arial"/>
                <a:sym typeface="Arial"/>
              </a:rPr>
              <a:t>$2.9M ARR potential</a:t>
            </a:r>
            <a:endParaRPr sz="900">
              <a:solidFill>
                <a:schemeClr val="dk1"/>
              </a:solidFill>
              <a:latin typeface="Calibri"/>
              <a:ea typeface="Calibri"/>
              <a:cs typeface="Calibri"/>
              <a:sym typeface="Calibri"/>
            </a:endParaRPr>
          </a:p>
        </p:txBody>
      </p:sp>
      <p:sp>
        <p:nvSpPr>
          <p:cNvPr id="113" name="Google Shape;113;p4"/>
          <p:cNvSpPr/>
          <p:nvPr/>
        </p:nvSpPr>
        <p:spPr>
          <a:xfrm>
            <a:off x="4648200" y="4361111"/>
            <a:ext cx="4114800" cy="525661"/>
          </a:xfrm>
          <a:prstGeom prst="roundRect">
            <a:avLst>
              <a:gd name="adj" fmla="val 8698"/>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14" name="Google Shape;114;p4"/>
          <p:cNvSpPr/>
          <p:nvPr/>
        </p:nvSpPr>
        <p:spPr>
          <a:xfrm>
            <a:off x="4723638" y="4490313"/>
            <a:ext cx="3963924" cy="297061"/>
          </a:xfrm>
          <a:prstGeom prst="rect">
            <a:avLst/>
          </a:prstGeom>
          <a:noFill/>
          <a:ln>
            <a:noFill/>
          </a:ln>
        </p:spPr>
        <p:txBody>
          <a:bodyPr spcFirstLastPara="1" wrap="square" lIns="0" tIns="0" rIns="0" bIns="0" anchor="t" anchorCtr="0">
            <a:noAutofit/>
          </a:bodyPr>
          <a:lstStyle/>
          <a:p>
            <a:pPr marL="0" marR="0" lvl="0" indent="0" algn="ctr" rtl="0">
              <a:lnSpc>
                <a:spcPct val="130000"/>
              </a:lnSpc>
              <a:spcBef>
                <a:spcPts val="0"/>
              </a:spcBef>
              <a:spcAft>
                <a:spcPts val="0"/>
              </a:spcAft>
              <a:buClr>
                <a:srgbClr val="1A1A1A"/>
              </a:buClr>
              <a:buSzPts val="900"/>
              <a:buFont typeface="Arial"/>
              <a:buNone/>
            </a:pPr>
            <a:r>
              <a:rPr lang="en-US" sz="900" b="1">
                <a:solidFill>
                  <a:srgbClr val="1A1A1A"/>
                </a:solidFill>
                <a:latin typeface="Arial"/>
                <a:ea typeface="Arial"/>
                <a:cs typeface="Arial"/>
                <a:sym typeface="Arial"/>
              </a:rPr>
              <a:t>Success at GWRR will create the blueprint for the entire market</a:t>
            </a:r>
            <a:endParaRPr sz="900">
              <a:solidFill>
                <a:schemeClr val="dk1"/>
              </a:solidFill>
              <a:latin typeface="Calibri"/>
              <a:ea typeface="Calibri"/>
              <a:cs typeface="Calibri"/>
              <a:sym typeface="Calibri"/>
            </a:endParaRPr>
          </a:p>
        </p:txBody>
      </p:sp>
      <p:sp>
        <p:nvSpPr>
          <p:cNvPr id="115" name="Google Shape;115;p4"/>
          <p:cNvSpPr/>
          <p:nvPr/>
        </p:nvSpPr>
        <p:spPr>
          <a:xfrm>
            <a:off x="381000" y="4781550"/>
            <a:ext cx="8549640" cy="1333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750"/>
              <a:buFont typeface="Arial"/>
              <a:buNone/>
            </a:pPr>
            <a:r>
              <a:rPr lang="en-US" sz="750">
                <a:solidFill>
                  <a:srgbClr val="6C757D"/>
                </a:solidFill>
                <a:latin typeface="Arial"/>
                <a:ea typeface="Arial"/>
                <a:cs typeface="Arial"/>
                <a:sym typeface="Arial"/>
              </a:rPr>
              <a:t>Railvision.cn | Confidential</a:t>
            </a:r>
            <a:endParaRPr sz="7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5"/>
          <p:cNvSpPr/>
          <p:nvPr/>
        </p:nvSpPr>
        <p:spPr>
          <a:xfrm>
            <a:off x="381000" y="247650"/>
            <a:ext cx="47625" cy="342900"/>
          </a:xfrm>
          <a:prstGeom prst="rect">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22" name="Google Shape;122;p5"/>
          <p:cNvSpPr/>
          <p:nvPr/>
        </p:nvSpPr>
        <p:spPr>
          <a:xfrm>
            <a:off x="633412" y="237977"/>
            <a:ext cx="8029576"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A3D62"/>
              </a:buClr>
              <a:buSzPts val="3000"/>
              <a:buFont typeface="Trebuchet MS"/>
              <a:buNone/>
            </a:pPr>
            <a:r>
              <a:rPr lang="en-US" sz="3000" b="1">
                <a:solidFill>
                  <a:srgbClr val="0A3D62"/>
                </a:solidFill>
                <a:latin typeface="Trebuchet MS"/>
                <a:ea typeface="Trebuchet MS"/>
                <a:cs typeface="Trebuchet MS"/>
                <a:sym typeface="Trebuchet MS"/>
              </a:rPr>
              <a:t>The Immediate Deal 🡪 N. America Shortline</a:t>
            </a:r>
            <a:endParaRPr sz="3000">
              <a:solidFill>
                <a:schemeClr val="dk1"/>
              </a:solidFill>
              <a:latin typeface="Calibri"/>
              <a:ea typeface="Calibri"/>
              <a:cs typeface="Calibri"/>
              <a:sym typeface="Calibri"/>
            </a:endParaRPr>
          </a:p>
        </p:txBody>
      </p:sp>
      <p:sp>
        <p:nvSpPr>
          <p:cNvPr id="123" name="Google Shape;123;p5"/>
          <p:cNvSpPr/>
          <p:nvPr/>
        </p:nvSpPr>
        <p:spPr>
          <a:xfrm>
            <a:off x="581025" y="666750"/>
            <a:ext cx="8345615" cy="20002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1125"/>
              <a:buFont typeface="Arial"/>
              <a:buNone/>
            </a:pPr>
            <a:r>
              <a:rPr lang="en-US" sz="1125">
                <a:solidFill>
                  <a:srgbClr val="6C757D"/>
                </a:solidFill>
                <a:latin typeface="Arial"/>
                <a:ea typeface="Arial"/>
                <a:cs typeface="Arial"/>
                <a:sym typeface="Arial"/>
              </a:rPr>
              <a:t>Funding the Bridge to $50M–$100M Business Valuation</a:t>
            </a:r>
            <a:endParaRPr sz="1125">
              <a:solidFill>
                <a:schemeClr val="dk1"/>
              </a:solidFill>
              <a:latin typeface="Calibri"/>
              <a:ea typeface="Calibri"/>
              <a:cs typeface="Calibri"/>
              <a:sym typeface="Calibri"/>
            </a:endParaRPr>
          </a:p>
        </p:txBody>
      </p:sp>
      <p:pic>
        <p:nvPicPr>
          <p:cNvPr id="124" name="Google Shape;124;p5" descr="/tmp/rasterized-gradient-99161ab6.png"/>
          <p:cNvPicPr preferRelativeResize="0"/>
          <p:nvPr/>
        </p:nvPicPr>
        <p:blipFill rotWithShape="1">
          <a:blip r:embed="rId3">
            <a:alphaModFix/>
          </a:blip>
          <a:srcRect/>
          <a:stretch/>
        </p:blipFill>
        <p:spPr>
          <a:xfrm>
            <a:off x="381000" y="1114425"/>
            <a:ext cx="8382000" cy="1461046"/>
          </a:xfrm>
          <a:prstGeom prst="rect">
            <a:avLst/>
          </a:prstGeom>
          <a:noFill/>
          <a:ln>
            <a:noFill/>
          </a:ln>
        </p:spPr>
      </p:pic>
      <p:sp>
        <p:nvSpPr>
          <p:cNvPr id="125" name="Google Shape;125;p5"/>
          <p:cNvSpPr/>
          <p:nvPr/>
        </p:nvSpPr>
        <p:spPr>
          <a:xfrm>
            <a:off x="571500" y="1427857"/>
            <a:ext cx="6412230"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STRATEGIC FUNDING OPPORTUNITY</a:t>
            </a:r>
            <a:endParaRPr sz="825">
              <a:solidFill>
                <a:schemeClr val="dk1"/>
              </a:solidFill>
              <a:latin typeface="Calibri"/>
              <a:ea typeface="Calibri"/>
              <a:cs typeface="Calibri"/>
              <a:sym typeface="Calibri"/>
            </a:endParaRPr>
          </a:p>
        </p:txBody>
      </p:sp>
      <p:sp>
        <p:nvSpPr>
          <p:cNvPr id="126" name="Google Shape;126;p5"/>
          <p:cNvSpPr/>
          <p:nvPr/>
        </p:nvSpPr>
        <p:spPr>
          <a:xfrm>
            <a:off x="571500" y="1631603"/>
            <a:ext cx="6231636" cy="4000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150"/>
              <a:buFont typeface="Trebuchet MS"/>
              <a:buNone/>
            </a:pPr>
            <a:r>
              <a:rPr lang="en-US" sz="3150" b="1">
                <a:solidFill>
                  <a:srgbClr val="FFFFFF"/>
                </a:solidFill>
                <a:latin typeface="Trebuchet MS"/>
                <a:ea typeface="Trebuchet MS"/>
                <a:cs typeface="Trebuchet MS"/>
                <a:sym typeface="Trebuchet MS"/>
              </a:rPr>
              <a:t>$3M               $10M ARR MARKET</a:t>
            </a:r>
            <a:endParaRPr sz="3150">
              <a:solidFill>
                <a:schemeClr val="dk1"/>
              </a:solidFill>
              <a:latin typeface="Calibri"/>
              <a:ea typeface="Calibri"/>
              <a:cs typeface="Calibri"/>
              <a:sym typeface="Calibri"/>
            </a:endParaRPr>
          </a:p>
        </p:txBody>
      </p:sp>
      <p:sp>
        <p:nvSpPr>
          <p:cNvPr id="127" name="Google Shape;127;p5"/>
          <p:cNvSpPr/>
          <p:nvPr/>
        </p:nvSpPr>
        <p:spPr>
          <a:xfrm>
            <a:off x="428625" y="2135978"/>
            <a:ext cx="6412200" cy="173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975"/>
              <a:buFont typeface="Arial"/>
              <a:buNone/>
            </a:pPr>
            <a:r>
              <a:rPr lang="en-US" sz="975">
                <a:solidFill>
                  <a:srgbClr val="FFFFFF"/>
                </a:solidFill>
                <a:latin typeface="Arial"/>
                <a:ea typeface="Arial"/>
                <a:cs typeface="Arial"/>
                <a:sym typeface="Arial"/>
              </a:rPr>
              <a:t>Bridge financing &amp; Strategic/Brand Competency to fuel "Wartime" commercial engine</a:t>
            </a:r>
            <a:endParaRPr sz="975">
              <a:solidFill>
                <a:schemeClr val="dk1"/>
              </a:solidFill>
              <a:latin typeface="Calibri"/>
              <a:ea typeface="Calibri"/>
              <a:cs typeface="Calibri"/>
              <a:sym typeface="Calibri"/>
            </a:endParaRPr>
          </a:p>
        </p:txBody>
      </p:sp>
      <p:sp>
        <p:nvSpPr>
          <p:cNvPr id="128" name="Google Shape;128;p5"/>
          <p:cNvSpPr/>
          <p:nvPr/>
        </p:nvSpPr>
        <p:spPr>
          <a:xfrm>
            <a:off x="7048500" y="1304925"/>
            <a:ext cx="1524000" cy="1080046"/>
          </a:xfrm>
          <a:prstGeom prst="roundRect">
            <a:avLst>
              <a:gd name="adj" fmla="val 4233"/>
            </a:avLst>
          </a:prstGeom>
          <a:solidFill>
            <a:srgbClr val="FFFFFF">
              <a:alpha val="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29" name="Google Shape;129;p5"/>
          <p:cNvSpPr/>
          <p:nvPr/>
        </p:nvSpPr>
        <p:spPr>
          <a:xfrm>
            <a:off x="7161246" y="1427857"/>
            <a:ext cx="1243584" cy="146596"/>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EXIT RANGE OPTION</a:t>
            </a:r>
            <a:endParaRPr sz="825">
              <a:solidFill>
                <a:schemeClr val="dk1"/>
              </a:solidFill>
              <a:latin typeface="Calibri"/>
              <a:ea typeface="Calibri"/>
              <a:cs typeface="Calibri"/>
              <a:sym typeface="Calibri"/>
            </a:endParaRPr>
          </a:p>
        </p:txBody>
      </p:sp>
      <p:sp>
        <p:nvSpPr>
          <p:cNvPr id="130" name="Google Shape;130;p5"/>
          <p:cNvSpPr/>
          <p:nvPr/>
        </p:nvSpPr>
        <p:spPr>
          <a:xfrm>
            <a:off x="7048500" y="1661071"/>
            <a:ext cx="1383792" cy="571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2250"/>
              <a:buFont typeface="Arial"/>
              <a:buNone/>
            </a:pPr>
            <a:r>
              <a:rPr lang="en-US" sz="2250">
                <a:solidFill>
                  <a:srgbClr val="FFFFFF"/>
                </a:solidFill>
                <a:latin typeface="Arial"/>
                <a:ea typeface="Arial"/>
                <a:cs typeface="Arial"/>
                <a:sym typeface="Arial"/>
              </a:rPr>
              <a:t>$50M</a:t>
            </a:r>
            <a:endParaRPr sz="225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2250"/>
              <a:buFont typeface="Arial"/>
              <a:buNone/>
            </a:pPr>
            <a:r>
              <a:rPr lang="en-US" sz="2250">
                <a:solidFill>
                  <a:srgbClr val="FFFFFF"/>
                </a:solidFill>
                <a:latin typeface="Arial"/>
                <a:ea typeface="Arial"/>
                <a:cs typeface="Arial"/>
                <a:sym typeface="Arial"/>
              </a:rPr>
              <a:t>to $100M</a:t>
            </a:r>
            <a:endParaRPr sz="2250">
              <a:solidFill>
                <a:schemeClr val="dk1"/>
              </a:solidFill>
              <a:latin typeface="Calibri"/>
              <a:ea typeface="Calibri"/>
              <a:cs typeface="Calibri"/>
              <a:sym typeface="Calibri"/>
            </a:endParaRPr>
          </a:p>
        </p:txBody>
      </p:sp>
      <p:sp>
        <p:nvSpPr>
          <p:cNvPr id="131" name="Google Shape;131;p5"/>
          <p:cNvSpPr/>
          <p:nvPr/>
        </p:nvSpPr>
        <p:spPr>
          <a:xfrm>
            <a:off x="381000" y="2670721"/>
            <a:ext cx="8382000" cy="2472779"/>
          </a:xfrm>
          <a:prstGeom prst="roundRect">
            <a:avLst>
              <a:gd name="adj" fmla="val 1849"/>
            </a:avLst>
          </a:prstGeom>
          <a:solidFill>
            <a:srgbClr val="F8F9FA"/>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32" name="Google Shape;132;p5"/>
          <p:cNvSpPr/>
          <p:nvPr/>
        </p:nvSpPr>
        <p:spPr>
          <a:xfrm>
            <a:off x="552450" y="2870597"/>
            <a:ext cx="1921696" cy="228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500"/>
              <a:buFont typeface="Trebuchet MS"/>
              <a:buNone/>
            </a:pPr>
            <a:r>
              <a:rPr lang="en-US" sz="1500" b="1">
                <a:solidFill>
                  <a:srgbClr val="0A3D62"/>
                </a:solidFill>
                <a:latin typeface="Trebuchet MS"/>
                <a:ea typeface="Trebuchet MS"/>
                <a:cs typeface="Trebuchet MS"/>
                <a:sym typeface="Trebuchet MS"/>
              </a:rPr>
              <a:t>12-Month Milestones</a:t>
            </a:r>
            <a:endParaRPr sz="1500">
              <a:solidFill>
                <a:schemeClr val="dk1"/>
              </a:solidFill>
              <a:latin typeface="Calibri"/>
              <a:ea typeface="Calibri"/>
              <a:cs typeface="Calibri"/>
              <a:sym typeface="Calibri"/>
            </a:endParaRPr>
          </a:p>
        </p:txBody>
      </p:sp>
      <p:sp>
        <p:nvSpPr>
          <p:cNvPr id="133" name="Google Shape;133;p5"/>
          <p:cNvSpPr/>
          <p:nvPr/>
        </p:nvSpPr>
        <p:spPr>
          <a:xfrm>
            <a:off x="6974526" y="2842171"/>
            <a:ext cx="1617024" cy="119955"/>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C757D"/>
              </a:buClr>
              <a:buSzPts val="675"/>
              <a:buFont typeface="Arial"/>
              <a:buNone/>
            </a:pPr>
            <a:r>
              <a:rPr lang="en-US" sz="675" b="1">
                <a:solidFill>
                  <a:srgbClr val="6C757D"/>
                </a:solidFill>
                <a:latin typeface="Arial"/>
                <a:ea typeface="Arial"/>
                <a:cs typeface="Arial"/>
                <a:sym typeface="Arial"/>
              </a:rPr>
              <a:t>STRATEGIC EXIT</a:t>
            </a:r>
            <a:endParaRPr sz="675">
              <a:solidFill>
                <a:schemeClr val="dk1"/>
              </a:solidFill>
              <a:latin typeface="Calibri"/>
              <a:ea typeface="Calibri"/>
              <a:cs typeface="Calibri"/>
              <a:sym typeface="Calibri"/>
            </a:endParaRPr>
          </a:p>
        </p:txBody>
      </p:sp>
      <p:sp>
        <p:nvSpPr>
          <p:cNvPr id="134" name="Google Shape;134;p5"/>
          <p:cNvSpPr/>
          <p:nvPr/>
        </p:nvSpPr>
        <p:spPr>
          <a:xfrm>
            <a:off x="6974526" y="2981176"/>
            <a:ext cx="1617024" cy="146596"/>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0A3D62"/>
              </a:buClr>
              <a:buSzPts val="825"/>
              <a:buFont typeface="Arial"/>
              <a:buNone/>
            </a:pPr>
            <a:r>
              <a:rPr lang="en-US" sz="825" b="1">
                <a:solidFill>
                  <a:srgbClr val="0A3D62"/>
                </a:solidFill>
                <a:latin typeface="Arial"/>
                <a:ea typeface="Arial"/>
                <a:cs typeface="Arial"/>
                <a:sym typeface="Arial"/>
              </a:rPr>
              <a:t>Wabtec • Progress Rail • Alstom</a:t>
            </a:r>
            <a:endParaRPr sz="825">
              <a:solidFill>
                <a:schemeClr val="dk1"/>
              </a:solidFill>
              <a:latin typeface="Calibri"/>
              <a:ea typeface="Calibri"/>
              <a:cs typeface="Calibri"/>
              <a:sym typeface="Calibri"/>
            </a:endParaRPr>
          </a:p>
        </p:txBody>
      </p:sp>
      <p:sp>
        <p:nvSpPr>
          <p:cNvPr id="135" name="Google Shape;135;p5"/>
          <p:cNvSpPr/>
          <p:nvPr/>
        </p:nvSpPr>
        <p:spPr>
          <a:xfrm>
            <a:off x="552450" y="3261122"/>
            <a:ext cx="3943350" cy="1339007"/>
          </a:xfrm>
          <a:prstGeom prst="roundRect">
            <a:avLst>
              <a:gd name="adj" fmla="val 3414"/>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136" name="Google Shape;136;p5"/>
          <p:cNvCxnSpPr/>
          <p:nvPr/>
        </p:nvCxnSpPr>
        <p:spPr>
          <a:xfrm>
            <a:off x="571500" y="3261122"/>
            <a:ext cx="0" cy="1339007"/>
          </a:xfrm>
          <a:prstGeom prst="straightConnector1">
            <a:avLst/>
          </a:prstGeom>
          <a:noFill/>
          <a:ln w="38100" cap="flat" cmpd="sng">
            <a:solidFill>
              <a:srgbClr val="00C9A7"/>
            </a:solidFill>
            <a:prstDash val="solid"/>
            <a:round/>
            <a:headEnd type="none" w="sm" len="sm"/>
            <a:tailEnd type="none" w="sm" len="sm"/>
          </a:ln>
        </p:spPr>
      </p:cxnSp>
      <p:sp>
        <p:nvSpPr>
          <p:cNvPr id="137" name="Google Shape;137;p5"/>
          <p:cNvSpPr/>
          <p:nvPr/>
        </p:nvSpPr>
        <p:spPr>
          <a:xfrm>
            <a:off x="742950" y="3413522"/>
            <a:ext cx="3672459"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Q2 2026</a:t>
            </a:r>
            <a:endParaRPr sz="825">
              <a:solidFill>
                <a:schemeClr val="dk1"/>
              </a:solidFill>
              <a:latin typeface="Calibri"/>
              <a:ea typeface="Calibri"/>
              <a:cs typeface="Calibri"/>
              <a:sym typeface="Calibri"/>
            </a:endParaRPr>
          </a:p>
        </p:txBody>
      </p:sp>
      <p:sp>
        <p:nvSpPr>
          <p:cNvPr id="138" name="Google Shape;138;p5"/>
          <p:cNvSpPr/>
          <p:nvPr/>
        </p:nvSpPr>
        <p:spPr>
          <a:xfrm>
            <a:off x="742950" y="3636318"/>
            <a:ext cx="3672459"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A3D62"/>
              </a:buClr>
              <a:buSzPts val="1200"/>
              <a:buFont typeface="Trebuchet MS"/>
              <a:buNone/>
            </a:pPr>
            <a:r>
              <a:rPr lang="en-US" sz="1200" b="1">
                <a:solidFill>
                  <a:srgbClr val="0A3D62"/>
                </a:solidFill>
                <a:latin typeface="Trebuchet MS"/>
                <a:ea typeface="Trebuchet MS"/>
                <a:cs typeface="Trebuchet MS"/>
                <a:sym typeface="Trebuchet MS"/>
              </a:rPr>
              <a:t>GWRR Pilot Success</a:t>
            </a:r>
            <a:endParaRPr sz="1200">
              <a:solidFill>
                <a:schemeClr val="dk1"/>
              </a:solidFill>
              <a:latin typeface="Calibri"/>
              <a:ea typeface="Calibri"/>
              <a:cs typeface="Calibri"/>
              <a:sym typeface="Calibri"/>
            </a:endParaRPr>
          </a:p>
        </p:txBody>
      </p:sp>
      <p:sp>
        <p:nvSpPr>
          <p:cNvPr id="139" name="Google Shape;139;p5"/>
          <p:cNvSpPr/>
          <p:nvPr/>
        </p:nvSpPr>
        <p:spPr>
          <a:xfrm>
            <a:off x="742950" y="3864918"/>
            <a:ext cx="3672459"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900"/>
              <a:buFont typeface="Arial"/>
              <a:buNone/>
            </a:pPr>
            <a:r>
              <a:rPr lang="en-US" sz="900">
                <a:solidFill>
                  <a:srgbClr val="1A1A1A"/>
                </a:solidFill>
                <a:latin typeface="Arial"/>
                <a:ea typeface="Arial"/>
                <a:cs typeface="Arial"/>
                <a:sym typeface="Arial"/>
              </a:rPr>
              <a:t>First properties validated</a:t>
            </a:r>
            <a:endParaRPr sz="900">
              <a:solidFill>
                <a:schemeClr val="dk1"/>
              </a:solidFill>
              <a:latin typeface="Calibri"/>
              <a:ea typeface="Calibri"/>
              <a:cs typeface="Calibri"/>
              <a:sym typeface="Calibri"/>
            </a:endParaRPr>
          </a:p>
        </p:txBody>
      </p:sp>
      <p:sp>
        <p:nvSpPr>
          <p:cNvPr id="140" name="Google Shape;140;p5"/>
          <p:cNvSpPr/>
          <p:nvPr/>
        </p:nvSpPr>
        <p:spPr>
          <a:xfrm>
            <a:off x="742951" y="4120158"/>
            <a:ext cx="1279473" cy="327571"/>
          </a:xfrm>
          <a:prstGeom prst="roundRect">
            <a:avLst>
              <a:gd name="adj" fmla="val 13957"/>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41" name="Google Shape;141;p5"/>
          <p:cNvSpPr/>
          <p:nvPr/>
        </p:nvSpPr>
        <p:spPr>
          <a:xfrm>
            <a:off x="857250" y="4177308"/>
            <a:ext cx="832345" cy="21327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$200K ARR</a:t>
            </a:r>
            <a:endParaRPr sz="1200">
              <a:solidFill>
                <a:schemeClr val="dk1"/>
              </a:solidFill>
              <a:latin typeface="Calibri"/>
              <a:ea typeface="Calibri"/>
              <a:cs typeface="Calibri"/>
              <a:sym typeface="Calibri"/>
            </a:endParaRPr>
          </a:p>
        </p:txBody>
      </p:sp>
      <p:sp>
        <p:nvSpPr>
          <p:cNvPr id="142" name="Google Shape;142;p5"/>
          <p:cNvSpPr/>
          <p:nvPr/>
        </p:nvSpPr>
        <p:spPr>
          <a:xfrm>
            <a:off x="4648200" y="3261122"/>
            <a:ext cx="3943350" cy="1339007"/>
          </a:xfrm>
          <a:prstGeom prst="roundRect">
            <a:avLst>
              <a:gd name="adj" fmla="val 3414"/>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143" name="Google Shape;143;p5"/>
          <p:cNvCxnSpPr/>
          <p:nvPr/>
        </p:nvCxnSpPr>
        <p:spPr>
          <a:xfrm>
            <a:off x="4667250" y="3261122"/>
            <a:ext cx="0" cy="1339007"/>
          </a:xfrm>
          <a:prstGeom prst="straightConnector1">
            <a:avLst/>
          </a:prstGeom>
          <a:noFill/>
          <a:ln w="38100" cap="flat" cmpd="sng">
            <a:solidFill>
              <a:srgbClr val="FFB627"/>
            </a:solidFill>
            <a:prstDash val="solid"/>
            <a:round/>
            <a:headEnd type="none" w="sm" len="sm"/>
            <a:tailEnd type="none" w="sm" len="sm"/>
          </a:ln>
        </p:spPr>
      </p:cxnSp>
      <p:sp>
        <p:nvSpPr>
          <p:cNvPr id="144" name="Google Shape;144;p5"/>
          <p:cNvSpPr/>
          <p:nvPr/>
        </p:nvSpPr>
        <p:spPr>
          <a:xfrm>
            <a:off x="4838700" y="3413522"/>
            <a:ext cx="3672459"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825"/>
              <a:buFont typeface="Arial"/>
              <a:buNone/>
            </a:pPr>
            <a:r>
              <a:rPr lang="en-US" sz="825" b="1">
                <a:solidFill>
                  <a:srgbClr val="1A1A1A"/>
                </a:solidFill>
                <a:latin typeface="Arial"/>
                <a:ea typeface="Arial"/>
                <a:cs typeface="Arial"/>
                <a:sym typeface="Arial"/>
              </a:rPr>
              <a:t>Q4 2026</a:t>
            </a:r>
            <a:endParaRPr sz="825">
              <a:solidFill>
                <a:schemeClr val="dk1"/>
              </a:solidFill>
              <a:latin typeface="Calibri"/>
              <a:ea typeface="Calibri"/>
              <a:cs typeface="Calibri"/>
              <a:sym typeface="Calibri"/>
            </a:endParaRPr>
          </a:p>
        </p:txBody>
      </p:sp>
      <p:sp>
        <p:nvSpPr>
          <p:cNvPr id="145" name="Google Shape;145;p5"/>
          <p:cNvSpPr/>
          <p:nvPr/>
        </p:nvSpPr>
        <p:spPr>
          <a:xfrm>
            <a:off x="4838700" y="3636318"/>
            <a:ext cx="3672459"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A3D62"/>
              </a:buClr>
              <a:buSzPts val="1200"/>
              <a:buFont typeface="Trebuchet MS"/>
              <a:buNone/>
            </a:pPr>
            <a:r>
              <a:rPr lang="en-US" sz="1200" b="1">
                <a:solidFill>
                  <a:srgbClr val="0A3D62"/>
                </a:solidFill>
                <a:latin typeface="Trebuchet MS"/>
                <a:ea typeface="Trebuchet MS"/>
                <a:cs typeface="Trebuchet MS"/>
                <a:sym typeface="Trebuchet MS"/>
              </a:rPr>
              <a:t>Scaled Deployment</a:t>
            </a:r>
            <a:endParaRPr sz="1200">
              <a:solidFill>
                <a:schemeClr val="dk1"/>
              </a:solidFill>
              <a:latin typeface="Calibri"/>
              <a:ea typeface="Calibri"/>
              <a:cs typeface="Calibri"/>
              <a:sym typeface="Calibri"/>
            </a:endParaRPr>
          </a:p>
        </p:txBody>
      </p:sp>
      <p:sp>
        <p:nvSpPr>
          <p:cNvPr id="146" name="Google Shape;146;p5"/>
          <p:cNvSpPr/>
          <p:nvPr/>
        </p:nvSpPr>
        <p:spPr>
          <a:xfrm>
            <a:off x="4838700" y="3864918"/>
            <a:ext cx="3672459"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900"/>
              <a:buFont typeface="Arial"/>
              <a:buNone/>
            </a:pPr>
            <a:r>
              <a:rPr lang="en-US" sz="900">
                <a:solidFill>
                  <a:srgbClr val="1A1A1A"/>
                </a:solidFill>
                <a:latin typeface="Arial"/>
                <a:ea typeface="Arial"/>
                <a:cs typeface="Arial"/>
                <a:sym typeface="Arial"/>
              </a:rPr>
              <a:t>15+ properties live</a:t>
            </a:r>
            <a:endParaRPr sz="900">
              <a:solidFill>
                <a:schemeClr val="dk1"/>
              </a:solidFill>
              <a:latin typeface="Calibri"/>
              <a:ea typeface="Calibri"/>
              <a:cs typeface="Calibri"/>
              <a:sym typeface="Calibri"/>
            </a:endParaRPr>
          </a:p>
        </p:txBody>
      </p:sp>
      <p:sp>
        <p:nvSpPr>
          <p:cNvPr id="147" name="Google Shape;147;p5"/>
          <p:cNvSpPr/>
          <p:nvPr/>
        </p:nvSpPr>
        <p:spPr>
          <a:xfrm>
            <a:off x="4838700" y="4120158"/>
            <a:ext cx="1108025" cy="327571"/>
          </a:xfrm>
          <a:prstGeom prst="roundRect">
            <a:avLst>
              <a:gd name="adj" fmla="val 13957"/>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48" name="Google Shape;148;p5"/>
          <p:cNvSpPr/>
          <p:nvPr/>
        </p:nvSpPr>
        <p:spPr>
          <a:xfrm>
            <a:off x="4953000" y="4177308"/>
            <a:ext cx="897014" cy="21327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1200"/>
              <a:buFont typeface="Arial"/>
              <a:buNone/>
            </a:pPr>
            <a:r>
              <a:rPr lang="en-US" sz="1200" b="1">
                <a:solidFill>
                  <a:srgbClr val="1A1A1A"/>
                </a:solidFill>
                <a:latin typeface="Arial"/>
                <a:ea typeface="Arial"/>
                <a:cs typeface="Arial"/>
                <a:sym typeface="Arial"/>
              </a:rPr>
              <a:t>$2.5M+ ARR</a:t>
            </a:r>
            <a:endParaRPr sz="1200">
              <a:solidFill>
                <a:schemeClr val="dk1"/>
              </a:solidFill>
              <a:latin typeface="Calibri"/>
              <a:ea typeface="Calibri"/>
              <a:cs typeface="Calibri"/>
              <a:sym typeface="Calibri"/>
            </a:endParaRPr>
          </a:p>
        </p:txBody>
      </p:sp>
      <p:sp>
        <p:nvSpPr>
          <p:cNvPr id="149" name="Google Shape;149;p5"/>
          <p:cNvSpPr/>
          <p:nvPr/>
        </p:nvSpPr>
        <p:spPr>
          <a:xfrm>
            <a:off x="381000" y="4743450"/>
            <a:ext cx="8549640" cy="1333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750"/>
              <a:buFont typeface="Arial"/>
              <a:buNone/>
            </a:pPr>
            <a:r>
              <a:rPr lang="en-US" sz="750">
                <a:solidFill>
                  <a:srgbClr val="6C757D"/>
                </a:solidFill>
                <a:latin typeface="Arial"/>
                <a:ea typeface="Arial"/>
                <a:cs typeface="Arial"/>
                <a:sym typeface="Arial"/>
              </a:rPr>
              <a:t>Railvision.cn | Confidential</a:t>
            </a:r>
            <a:endParaRPr sz="7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
          <p:cNvSpPr/>
          <p:nvPr/>
        </p:nvSpPr>
        <p:spPr>
          <a:xfrm>
            <a:off x="381000" y="247650"/>
            <a:ext cx="47625" cy="342900"/>
          </a:xfrm>
          <a:prstGeom prst="rect">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56" name="Google Shape;156;p6"/>
          <p:cNvSpPr/>
          <p:nvPr/>
        </p:nvSpPr>
        <p:spPr>
          <a:xfrm>
            <a:off x="733425" y="228600"/>
            <a:ext cx="2331644"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A3D62"/>
              </a:buClr>
              <a:buSzPts val="3000"/>
              <a:buFont typeface="Trebuchet MS"/>
              <a:buNone/>
            </a:pPr>
            <a:r>
              <a:rPr lang="en-US" sz="3000" b="1">
                <a:solidFill>
                  <a:srgbClr val="0A3D62"/>
                </a:solidFill>
                <a:latin typeface="Trebuchet MS"/>
                <a:ea typeface="Trebuchet MS"/>
                <a:cs typeface="Trebuchet MS"/>
                <a:sym typeface="Trebuchet MS"/>
              </a:rPr>
              <a:t>The Future</a:t>
            </a:r>
            <a:endParaRPr sz="3000">
              <a:solidFill>
                <a:schemeClr val="dk1"/>
              </a:solidFill>
              <a:latin typeface="Calibri"/>
              <a:ea typeface="Calibri"/>
              <a:cs typeface="Calibri"/>
              <a:sym typeface="Calibri"/>
            </a:endParaRPr>
          </a:p>
        </p:txBody>
      </p:sp>
      <p:sp>
        <p:nvSpPr>
          <p:cNvPr id="157" name="Google Shape;157;p6"/>
          <p:cNvSpPr/>
          <p:nvPr/>
        </p:nvSpPr>
        <p:spPr>
          <a:xfrm>
            <a:off x="581025" y="666750"/>
            <a:ext cx="8345615" cy="20002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1125"/>
              <a:buFont typeface="Arial"/>
              <a:buNone/>
            </a:pPr>
            <a:r>
              <a:rPr lang="en-US" sz="1125">
                <a:solidFill>
                  <a:srgbClr val="6C757D"/>
                </a:solidFill>
                <a:latin typeface="Arial"/>
                <a:ea typeface="Arial"/>
                <a:cs typeface="Arial"/>
                <a:sym typeface="Arial"/>
              </a:rPr>
              <a:t>MARKET LEADERSHIP:  SHORTLINES 🡪 CLASS I 🡪 GLOBAL</a:t>
            </a:r>
            <a:endParaRPr sz="1125">
              <a:solidFill>
                <a:schemeClr val="dk1"/>
              </a:solidFill>
              <a:latin typeface="Calibri"/>
              <a:ea typeface="Calibri"/>
              <a:cs typeface="Calibri"/>
              <a:sym typeface="Calibri"/>
            </a:endParaRPr>
          </a:p>
        </p:txBody>
      </p:sp>
      <p:pic>
        <p:nvPicPr>
          <p:cNvPr id="158" name="Google Shape;158;p6" descr="/tmp/rasterized-gradient-99161ab6.png"/>
          <p:cNvPicPr preferRelativeResize="0"/>
          <p:nvPr/>
        </p:nvPicPr>
        <p:blipFill rotWithShape="1">
          <a:blip r:embed="rId3">
            <a:alphaModFix/>
          </a:blip>
          <a:srcRect/>
          <a:stretch/>
        </p:blipFill>
        <p:spPr>
          <a:xfrm>
            <a:off x="381000" y="1114425"/>
            <a:ext cx="8382000" cy="1461046"/>
          </a:xfrm>
          <a:prstGeom prst="rect">
            <a:avLst/>
          </a:prstGeom>
          <a:noFill/>
          <a:ln>
            <a:noFill/>
          </a:ln>
        </p:spPr>
      </p:pic>
      <p:sp>
        <p:nvSpPr>
          <p:cNvPr id="159" name="Google Shape;159;p6"/>
          <p:cNvSpPr/>
          <p:nvPr/>
        </p:nvSpPr>
        <p:spPr>
          <a:xfrm>
            <a:off x="571501" y="1497956"/>
            <a:ext cx="5375224" cy="4000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150"/>
              <a:buFont typeface="Trebuchet MS"/>
              <a:buNone/>
            </a:pPr>
            <a:r>
              <a:rPr lang="en-US" sz="3150" b="1">
                <a:solidFill>
                  <a:srgbClr val="FFFFFF"/>
                </a:solidFill>
                <a:latin typeface="Trebuchet MS"/>
                <a:ea typeface="Trebuchet MS"/>
                <a:cs typeface="Trebuchet MS"/>
                <a:sym typeface="Trebuchet MS"/>
              </a:rPr>
              <a:t>ENTERPRISE SOLUTION FOR ALL RAILROAD CUSTOMERS</a:t>
            </a:r>
            <a:endParaRPr sz="3150">
              <a:solidFill>
                <a:schemeClr val="dk1"/>
              </a:solidFill>
              <a:latin typeface="Calibri"/>
              <a:ea typeface="Calibri"/>
              <a:cs typeface="Calibri"/>
              <a:sym typeface="Calibri"/>
            </a:endParaRPr>
          </a:p>
        </p:txBody>
      </p:sp>
      <p:sp>
        <p:nvSpPr>
          <p:cNvPr id="160" name="Google Shape;160;p6"/>
          <p:cNvSpPr/>
          <p:nvPr/>
        </p:nvSpPr>
        <p:spPr>
          <a:xfrm>
            <a:off x="7048500" y="1304925"/>
            <a:ext cx="1524000" cy="1080046"/>
          </a:xfrm>
          <a:prstGeom prst="roundRect">
            <a:avLst>
              <a:gd name="adj" fmla="val 4233"/>
            </a:avLst>
          </a:prstGeom>
          <a:solidFill>
            <a:srgbClr val="FFFFFF">
              <a:alpha val="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61" name="Google Shape;161;p6"/>
          <p:cNvSpPr/>
          <p:nvPr/>
        </p:nvSpPr>
        <p:spPr>
          <a:xfrm>
            <a:off x="7174230" y="1524000"/>
            <a:ext cx="1243584" cy="146596"/>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GLOBAL ARR</a:t>
            </a:r>
            <a:endParaRPr sz="825">
              <a:solidFill>
                <a:schemeClr val="dk1"/>
              </a:solidFill>
              <a:latin typeface="Calibri"/>
              <a:ea typeface="Calibri"/>
              <a:cs typeface="Calibri"/>
              <a:sym typeface="Calibri"/>
            </a:endParaRPr>
          </a:p>
        </p:txBody>
      </p:sp>
      <p:sp>
        <p:nvSpPr>
          <p:cNvPr id="162" name="Google Shape;162;p6"/>
          <p:cNvSpPr/>
          <p:nvPr/>
        </p:nvSpPr>
        <p:spPr>
          <a:xfrm>
            <a:off x="7118604" y="1746796"/>
            <a:ext cx="1383792" cy="571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2250"/>
              <a:buFont typeface="Arial"/>
              <a:buNone/>
            </a:pPr>
            <a:r>
              <a:rPr lang="en-US" sz="2250">
                <a:solidFill>
                  <a:srgbClr val="FFFFFF"/>
                </a:solidFill>
                <a:latin typeface="Arial"/>
                <a:ea typeface="Arial"/>
                <a:cs typeface="Arial"/>
                <a:sym typeface="Arial"/>
              </a:rPr>
              <a:t>$300M</a:t>
            </a:r>
            <a:endParaRPr sz="2250">
              <a:solidFill>
                <a:schemeClr val="dk1"/>
              </a:solidFill>
              <a:latin typeface="Calibri"/>
              <a:ea typeface="Calibri"/>
              <a:cs typeface="Calibri"/>
              <a:sym typeface="Calibri"/>
            </a:endParaRPr>
          </a:p>
        </p:txBody>
      </p:sp>
      <p:sp>
        <p:nvSpPr>
          <p:cNvPr id="163" name="Google Shape;163;p6"/>
          <p:cNvSpPr/>
          <p:nvPr/>
        </p:nvSpPr>
        <p:spPr>
          <a:xfrm>
            <a:off x="381000" y="2670721"/>
            <a:ext cx="8382000" cy="2472779"/>
          </a:xfrm>
          <a:prstGeom prst="roundRect">
            <a:avLst>
              <a:gd name="adj" fmla="val 1849"/>
            </a:avLst>
          </a:prstGeom>
          <a:solidFill>
            <a:srgbClr val="F8F9FA"/>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64" name="Google Shape;164;p6"/>
          <p:cNvSpPr/>
          <p:nvPr/>
        </p:nvSpPr>
        <p:spPr>
          <a:xfrm>
            <a:off x="552450" y="2870597"/>
            <a:ext cx="2644292" cy="247204"/>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A3D62"/>
              </a:buClr>
              <a:buSzPts val="1500"/>
              <a:buFont typeface="Trebuchet MS"/>
              <a:buNone/>
            </a:pPr>
            <a:r>
              <a:rPr lang="en-US" sz="1500" b="1">
                <a:solidFill>
                  <a:srgbClr val="0A3D62"/>
                </a:solidFill>
                <a:latin typeface="Trebuchet MS"/>
                <a:ea typeface="Trebuchet MS"/>
                <a:cs typeface="Trebuchet MS"/>
                <a:sym typeface="Trebuchet MS"/>
              </a:rPr>
              <a:t>FIVE TO TEN YEAR PLAN</a:t>
            </a:r>
            <a:endParaRPr sz="1500">
              <a:solidFill>
                <a:schemeClr val="dk1"/>
              </a:solidFill>
              <a:latin typeface="Calibri"/>
              <a:ea typeface="Calibri"/>
              <a:cs typeface="Calibri"/>
              <a:sym typeface="Calibri"/>
            </a:endParaRPr>
          </a:p>
        </p:txBody>
      </p:sp>
      <p:sp>
        <p:nvSpPr>
          <p:cNvPr id="165" name="Google Shape;165;p6"/>
          <p:cNvSpPr/>
          <p:nvPr/>
        </p:nvSpPr>
        <p:spPr>
          <a:xfrm>
            <a:off x="552450" y="3261122"/>
            <a:ext cx="3943350" cy="1339007"/>
          </a:xfrm>
          <a:prstGeom prst="roundRect">
            <a:avLst>
              <a:gd name="adj" fmla="val 3414"/>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166" name="Google Shape;166;p6"/>
          <p:cNvCxnSpPr/>
          <p:nvPr/>
        </p:nvCxnSpPr>
        <p:spPr>
          <a:xfrm>
            <a:off x="571500" y="3261122"/>
            <a:ext cx="0" cy="1339007"/>
          </a:xfrm>
          <a:prstGeom prst="straightConnector1">
            <a:avLst/>
          </a:prstGeom>
          <a:noFill/>
          <a:ln w="38100" cap="flat" cmpd="sng">
            <a:solidFill>
              <a:srgbClr val="00C9A7"/>
            </a:solidFill>
            <a:prstDash val="solid"/>
            <a:round/>
            <a:headEnd type="none" w="sm" len="sm"/>
            <a:tailEnd type="none" w="sm" len="sm"/>
          </a:ln>
        </p:spPr>
      </p:cxnSp>
      <p:sp>
        <p:nvSpPr>
          <p:cNvPr id="167" name="Google Shape;167;p6"/>
          <p:cNvSpPr/>
          <p:nvPr/>
        </p:nvSpPr>
        <p:spPr>
          <a:xfrm>
            <a:off x="742950" y="3413522"/>
            <a:ext cx="3672459"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00C9A7"/>
              </a:buClr>
              <a:buSzPts val="825"/>
              <a:buFont typeface="Arial"/>
              <a:buNone/>
            </a:pPr>
            <a:r>
              <a:rPr lang="en-US" sz="825" b="1">
                <a:solidFill>
                  <a:srgbClr val="00C9A7"/>
                </a:solidFill>
                <a:latin typeface="Arial"/>
                <a:ea typeface="Arial"/>
                <a:cs typeface="Arial"/>
                <a:sym typeface="Arial"/>
              </a:rPr>
              <a:t>COST SAVINGS</a:t>
            </a:r>
            <a:endParaRPr sz="825">
              <a:solidFill>
                <a:schemeClr val="dk1"/>
              </a:solidFill>
              <a:latin typeface="Calibri"/>
              <a:ea typeface="Calibri"/>
              <a:cs typeface="Calibri"/>
              <a:sym typeface="Calibri"/>
            </a:endParaRPr>
          </a:p>
        </p:txBody>
      </p:sp>
      <p:sp>
        <p:nvSpPr>
          <p:cNvPr id="168" name="Google Shape;168;p6"/>
          <p:cNvSpPr/>
          <p:nvPr/>
        </p:nvSpPr>
        <p:spPr>
          <a:xfrm>
            <a:off x="742950" y="3636318"/>
            <a:ext cx="3672459"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A3D62"/>
              </a:buClr>
              <a:buSzPts val="1200"/>
              <a:buFont typeface="Trebuchet MS"/>
              <a:buNone/>
            </a:pPr>
            <a:r>
              <a:rPr lang="en-US" sz="1200" b="1">
                <a:solidFill>
                  <a:srgbClr val="0A3D62"/>
                </a:solidFill>
                <a:latin typeface="Trebuchet MS"/>
                <a:ea typeface="Trebuchet MS"/>
                <a:cs typeface="Trebuchet MS"/>
                <a:sym typeface="Trebuchet MS"/>
              </a:rPr>
              <a:t>Standardized Operations</a:t>
            </a:r>
            <a:endParaRPr sz="1200">
              <a:solidFill>
                <a:schemeClr val="dk1"/>
              </a:solidFill>
              <a:latin typeface="Calibri"/>
              <a:ea typeface="Calibri"/>
              <a:cs typeface="Calibri"/>
              <a:sym typeface="Calibri"/>
            </a:endParaRPr>
          </a:p>
        </p:txBody>
      </p:sp>
      <p:sp>
        <p:nvSpPr>
          <p:cNvPr id="169" name="Google Shape;169;p6"/>
          <p:cNvSpPr/>
          <p:nvPr/>
        </p:nvSpPr>
        <p:spPr>
          <a:xfrm>
            <a:off x="742950" y="3864918"/>
            <a:ext cx="3672459"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900"/>
              <a:buFont typeface="Arial"/>
              <a:buNone/>
            </a:pPr>
            <a:r>
              <a:rPr lang="en-US" sz="900">
                <a:solidFill>
                  <a:srgbClr val="1A1A1A"/>
                </a:solidFill>
                <a:latin typeface="Arial"/>
                <a:ea typeface="Arial"/>
                <a:cs typeface="Arial"/>
                <a:sym typeface="Arial"/>
              </a:rPr>
              <a:t>What Railroads Want</a:t>
            </a:r>
            <a:endParaRPr sz="900">
              <a:solidFill>
                <a:schemeClr val="dk1"/>
              </a:solidFill>
              <a:latin typeface="Calibri"/>
              <a:ea typeface="Calibri"/>
              <a:cs typeface="Calibri"/>
              <a:sym typeface="Calibri"/>
            </a:endParaRPr>
          </a:p>
        </p:txBody>
      </p:sp>
      <p:sp>
        <p:nvSpPr>
          <p:cNvPr id="170" name="Google Shape;170;p6"/>
          <p:cNvSpPr/>
          <p:nvPr/>
        </p:nvSpPr>
        <p:spPr>
          <a:xfrm>
            <a:off x="742949" y="4120158"/>
            <a:ext cx="1561337" cy="327571"/>
          </a:xfrm>
          <a:prstGeom prst="roundRect">
            <a:avLst>
              <a:gd name="adj" fmla="val 13957"/>
            </a:avLst>
          </a:prstGeom>
          <a:solidFill>
            <a:srgbClr val="00C9A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71" name="Google Shape;171;p6"/>
          <p:cNvSpPr/>
          <p:nvPr/>
        </p:nvSpPr>
        <p:spPr>
          <a:xfrm>
            <a:off x="857250" y="4177308"/>
            <a:ext cx="1146125" cy="94769"/>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$1B SAVINGS</a:t>
            </a:r>
            <a:endParaRPr sz="1200">
              <a:solidFill>
                <a:schemeClr val="dk1"/>
              </a:solidFill>
              <a:latin typeface="Calibri"/>
              <a:ea typeface="Calibri"/>
              <a:cs typeface="Calibri"/>
              <a:sym typeface="Calibri"/>
            </a:endParaRPr>
          </a:p>
        </p:txBody>
      </p:sp>
      <p:sp>
        <p:nvSpPr>
          <p:cNvPr id="172" name="Google Shape;172;p6"/>
          <p:cNvSpPr/>
          <p:nvPr/>
        </p:nvSpPr>
        <p:spPr>
          <a:xfrm>
            <a:off x="4648200" y="3261122"/>
            <a:ext cx="3943350" cy="1339007"/>
          </a:xfrm>
          <a:prstGeom prst="roundRect">
            <a:avLst>
              <a:gd name="adj" fmla="val 3414"/>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173" name="Google Shape;173;p6"/>
          <p:cNvCxnSpPr/>
          <p:nvPr/>
        </p:nvCxnSpPr>
        <p:spPr>
          <a:xfrm>
            <a:off x="4667250" y="3261122"/>
            <a:ext cx="0" cy="1339007"/>
          </a:xfrm>
          <a:prstGeom prst="straightConnector1">
            <a:avLst/>
          </a:prstGeom>
          <a:noFill/>
          <a:ln w="38100" cap="flat" cmpd="sng">
            <a:solidFill>
              <a:srgbClr val="FFB627"/>
            </a:solidFill>
            <a:prstDash val="solid"/>
            <a:round/>
            <a:headEnd type="none" w="sm" len="sm"/>
            <a:tailEnd type="none" w="sm" len="sm"/>
          </a:ln>
        </p:spPr>
      </p:cxnSp>
      <p:sp>
        <p:nvSpPr>
          <p:cNvPr id="174" name="Google Shape;174;p6"/>
          <p:cNvSpPr/>
          <p:nvPr/>
        </p:nvSpPr>
        <p:spPr>
          <a:xfrm>
            <a:off x="4838700" y="3413522"/>
            <a:ext cx="3672459" cy="14659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C000"/>
              </a:buClr>
              <a:buSzPts val="825"/>
              <a:buFont typeface="Arial"/>
              <a:buNone/>
            </a:pPr>
            <a:r>
              <a:rPr lang="en-US" sz="825" b="1">
                <a:solidFill>
                  <a:srgbClr val="FFC000"/>
                </a:solidFill>
                <a:latin typeface="Arial"/>
                <a:ea typeface="Arial"/>
                <a:cs typeface="Arial"/>
                <a:sym typeface="Arial"/>
              </a:rPr>
              <a:t>AUTONOMY</a:t>
            </a:r>
            <a:r>
              <a:rPr lang="en-US" sz="825" b="1">
                <a:solidFill>
                  <a:srgbClr val="1A1A1A"/>
                </a:solidFill>
                <a:latin typeface="Arial"/>
                <a:ea typeface="Arial"/>
                <a:cs typeface="Arial"/>
                <a:sym typeface="Arial"/>
              </a:rPr>
              <a:t> </a:t>
            </a:r>
            <a:endParaRPr sz="825">
              <a:solidFill>
                <a:schemeClr val="dk1"/>
              </a:solidFill>
              <a:latin typeface="Calibri"/>
              <a:ea typeface="Calibri"/>
              <a:cs typeface="Calibri"/>
              <a:sym typeface="Calibri"/>
            </a:endParaRPr>
          </a:p>
        </p:txBody>
      </p:sp>
      <p:sp>
        <p:nvSpPr>
          <p:cNvPr id="175" name="Google Shape;175;p6"/>
          <p:cNvSpPr/>
          <p:nvPr/>
        </p:nvSpPr>
        <p:spPr>
          <a:xfrm>
            <a:off x="4838700" y="3636318"/>
            <a:ext cx="3672459"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A3D62"/>
              </a:buClr>
              <a:buSzPts val="1200"/>
              <a:buFont typeface="Trebuchet MS"/>
              <a:buNone/>
            </a:pPr>
            <a:r>
              <a:rPr lang="en-US" sz="1200" b="1">
                <a:solidFill>
                  <a:srgbClr val="0A3D62"/>
                </a:solidFill>
                <a:latin typeface="Trebuchet MS"/>
                <a:ea typeface="Trebuchet MS"/>
                <a:cs typeface="Trebuchet MS"/>
                <a:sym typeface="Trebuchet MS"/>
              </a:rPr>
              <a:t>Scaled Deployment</a:t>
            </a:r>
            <a:endParaRPr sz="1200">
              <a:solidFill>
                <a:schemeClr val="dk1"/>
              </a:solidFill>
              <a:latin typeface="Calibri"/>
              <a:ea typeface="Calibri"/>
              <a:cs typeface="Calibri"/>
              <a:sym typeface="Calibri"/>
            </a:endParaRPr>
          </a:p>
        </p:txBody>
      </p:sp>
      <p:sp>
        <p:nvSpPr>
          <p:cNvPr id="176" name="Google Shape;176;p6"/>
          <p:cNvSpPr/>
          <p:nvPr/>
        </p:nvSpPr>
        <p:spPr>
          <a:xfrm>
            <a:off x="4838700" y="3864918"/>
            <a:ext cx="3672459" cy="1599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900"/>
              <a:buFont typeface="Arial"/>
              <a:buNone/>
            </a:pPr>
            <a:r>
              <a:rPr lang="en-US" sz="900">
                <a:solidFill>
                  <a:srgbClr val="1A1A1A"/>
                </a:solidFill>
                <a:latin typeface="Arial"/>
                <a:ea typeface="Arial"/>
                <a:cs typeface="Arial"/>
                <a:sym typeface="Arial"/>
              </a:rPr>
              <a:t>Where Industry is Going</a:t>
            </a:r>
            <a:endParaRPr sz="900">
              <a:solidFill>
                <a:schemeClr val="dk1"/>
              </a:solidFill>
              <a:latin typeface="Calibri"/>
              <a:ea typeface="Calibri"/>
              <a:cs typeface="Calibri"/>
              <a:sym typeface="Calibri"/>
            </a:endParaRPr>
          </a:p>
        </p:txBody>
      </p:sp>
      <p:sp>
        <p:nvSpPr>
          <p:cNvPr id="177" name="Google Shape;177;p6"/>
          <p:cNvSpPr/>
          <p:nvPr/>
        </p:nvSpPr>
        <p:spPr>
          <a:xfrm>
            <a:off x="4838699" y="4120158"/>
            <a:ext cx="1456315" cy="327571"/>
          </a:xfrm>
          <a:prstGeom prst="roundRect">
            <a:avLst>
              <a:gd name="adj" fmla="val 13957"/>
            </a:avLst>
          </a:prstGeom>
          <a:solidFill>
            <a:srgbClr val="FFB627"/>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178" name="Google Shape;178;p6"/>
          <p:cNvSpPr/>
          <p:nvPr/>
        </p:nvSpPr>
        <p:spPr>
          <a:xfrm>
            <a:off x="4952999" y="4177308"/>
            <a:ext cx="1052779" cy="186039"/>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A1A1A"/>
              </a:buClr>
              <a:buSzPts val="1200"/>
              <a:buFont typeface="Arial"/>
              <a:buNone/>
            </a:pPr>
            <a:r>
              <a:rPr lang="en-US" sz="1200" b="1">
                <a:solidFill>
                  <a:srgbClr val="1A1A1A"/>
                </a:solidFill>
                <a:latin typeface="Arial"/>
                <a:ea typeface="Arial"/>
                <a:cs typeface="Arial"/>
                <a:sym typeface="Arial"/>
              </a:rPr>
              <a:t>Multi Billions</a:t>
            </a:r>
            <a:endParaRPr sz="1200">
              <a:solidFill>
                <a:schemeClr val="dk1"/>
              </a:solidFill>
              <a:latin typeface="Calibri"/>
              <a:ea typeface="Calibri"/>
              <a:cs typeface="Calibri"/>
              <a:sym typeface="Calibri"/>
            </a:endParaRPr>
          </a:p>
        </p:txBody>
      </p:sp>
      <p:sp>
        <p:nvSpPr>
          <p:cNvPr id="179" name="Google Shape;179;p6"/>
          <p:cNvSpPr/>
          <p:nvPr/>
        </p:nvSpPr>
        <p:spPr>
          <a:xfrm>
            <a:off x="381000" y="4743450"/>
            <a:ext cx="8549640" cy="1333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C757D"/>
              </a:buClr>
              <a:buSzPts val="750"/>
              <a:buFont typeface="Arial"/>
              <a:buNone/>
            </a:pPr>
            <a:r>
              <a:rPr lang="en-US" sz="750">
                <a:solidFill>
                  <a:srgbClr val="6C757D"/>
                </a:solidFill>
                <a:latin typeface="Arial"/>
                <a:ea typeface="Arial"/>
                <a:cs typeface="Arial"/>
                <a:sym typeface="Arial"/>
              </a:rPr>
              <a:t>Railvision.cn | Confidential</a:t>
            </a:r>
            <a:endParaRPr sz="750">
              <a:solidFill>
                <a:schemeClr val="dk1"/>
              </a:solidFill>
              <a:latin typeface="Calibri"/>
              <a:ea typeface="Calibri"/>
              <a:cs typeface="Calibri"/>
              <a:sym typeface="Calibri"/>
            </a:endParaRPr>
          </a:p>
        </p:txBody>
      </p:sp>
      <p:sp>
        <p:nvSpPr>
          <p:cNvPr id="180" name="Google Shape;180;p6"/>
          <p:cNvSpPr/>
          <p:nvPr/>
        </p:nvSpPr>
        <p:spPr>
          <a:xfrm>
            <a:off x="1977238" y="4148794"/>
            <a:ext cx="344424" cy="214553"/>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6"/>
          <p:cNvSpPr txBox="1"/>
          <p:nvPr/>
        </p:nvSpPr>
        <p:spPr>
          <a:xfrm>
            <a:off x="2370718" y="3932904"/>
            <a:ext cx="21734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Fuel / Maintenance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Training / Turnover</a:t>
            </a:r>
            <a:endParaRPr/>
          </a:p>
        </p:txBody>
      </p:sp>
      <p:sp>
        <p:nvSpPr>
          <p:cNvPr id="182" name="Google Shape;182;p6"/>
          <p:cNvSpPr/>
          <p:nvPr/>
        </p:nvSpPr>
        <p:spPr>
          <a:xfrm>
            <a:off x="6021322" y="4176839"/>
            <a:ext cx="344424" cy="214553"/>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6"/>
          <p:cNvSpPr txBox="1"/>
          <p:nvPr/>
        </p:nvSpPr>
        <p:spPr>
          <a:xfrm>
            <a:off x="6409314" y="4040026"/>
            <a:ext cx="21734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Cheap / Green / Safe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534</Words>
  <Application>Microsoft Office PowerPoint</Application>
  <PresentationFormat>On-screen Show (16:9)</PresentationFormat>
  <Paragraphs>111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jorourke163 jorourke163</cp:lastModifiedBy>
  <cp:revision>1</cp:revision>
  <dcterms:created xsi:type="dcterms:W3CDTF">2026-01-22T16:43:39Z</dcterms:created>
  <dcterms:modified xsi:type="dcterms:W3CDTF">2026-01-28T13:38:14Z</dcterms:modified>
</cp:coreProperties>
</file>