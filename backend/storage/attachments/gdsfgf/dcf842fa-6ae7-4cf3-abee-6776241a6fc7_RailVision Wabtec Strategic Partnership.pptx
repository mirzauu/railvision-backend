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5646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bteccorp.com/digital-intelligence/energy-management/trip-optimize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2.arb.ca.gov/sites/default/files/2022-07/2022%20Class%20I%20Switcher%20Emission%20Inventory%20technical%20document%2007112022.pdf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bteccorp.com/digital-intelligence/energy-management/trip-optimizer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progressiverailroading.com/mechanical/news/Technology-update-Fuel-management-2025--74472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ailvision.c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2.arb.ca.gov/sites/default/files/2022-07/2022%20Class%20I%20Switcher%20Emission%20Inventory%20technical%20document%2007112022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abteccorp.com/DE-Trip-Optimizer?inlin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epis.epa.gov/Exe/ZyPURL.cgi?Dockey=P10039SJ.TX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osts/wabtec-corporation_waicon-2025-ai-in-action-activity-7382084470226558976-SFG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railwayage.com/cs/wabtec-debuts-new-rail-technology-at-railway-interchange-2025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bteccorp.com/digital-intelligence/energy-management/trip-optimizer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jamie.orourke@railvision.ca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RAILVISION.CA</a:t>
            </a: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Strategic Partner Offering  |  Wabtec Corporation  |  Q1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 + Wabtec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Complementary Partnership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Trip Optimizer's reach into the shortline market, Class I yard operations, and next-generation AI architecture.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3703320"/>
            <a:ext cx="320040" cy="292608"/>
          </a:xfrm>
          <a:prstGeom prst="roundRect">
            <a:avLst>
              <a:gd name="adj" fmla="val 15625"/>
            </a:avLst>
          </a:prstGeom>
          <a:solidFill>
            <a:srgbClr val="007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37033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Shortline Market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450+ unserved railroads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361188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29000" y="3703320"/>
            <a:ext cx="320040" cy="292608"/>
          </a:xfrm>
          <a:prstGeom prst="roundRect">
            <a:avLst>
              <a:gd name="adj" fmla="val 15625"/>
            </a:avLst>
          </a:prstGeom>
          <a:solidFill>
            <a:srgbClr val="007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29000" y="37033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 Yard Locos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$750M+ unoptimized fuel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61188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63640" y="3703320"/>
            <a:ext cx="320040" cy="292608"/>
          </a:xfrm>
          <a:prstGeom prst="roundRect">
            <a:avLst>
              <a:gd name="adj" fmla="val 15625"/>
            </a:avLst>
          </a:prstGeom>
          <a:solidFill>
            <a:srgbClr val="007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63640" y="37033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Future-Proofing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architecture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RAILVISION.CA</a:t>
            </a: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The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Optimizer Leaves Three Markets Unserved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Wabtec's Trip Optimizer dominates Class I line-haul — but cannot reach shortlines, yard operations, or the full AI future. RailVision fills all three gaps.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560320" cy="54864"/>
          </a:xfrm>
          <a:prstGeom prst="rect">
            <a:avLst/>
          </a:prstGeom>
          <a:solidFill>
            <a:srgbClr val="E865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Shortline Railroads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$764M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fuel spend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450+ railroads with minimal fuel optimization. Trip Optimizer's hardware requirements and cost make it impractical for shortlines.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69164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691640"/>
            <a:ext cx="2560320" cy="54864"/>
          </a:xfrm>
          <a:prstGeom prst="rect">
            <a:avLst/>
          </a:prstGeom>
          <a:solidFill>
            <a:srgbClr val="007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 Yard Locomotives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$750M+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47472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yard fuel spend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971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 switching locomotives consume 250M+ gallons per year. Trip Optimizer is designed for main line road-haul, not yard operations.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69164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1691640"/>
            <a:ext cx="2560320" cy="54864"/>
          </a:xfrm>
          <a:prstGeom prst="rect">
            <a:avLst/>
          </a:prstGeom>
          <a:solidFill>
            <a:srgbClr val="3DA3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9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AI Architecture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$200M+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30936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ARR potential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971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Optimizer runs on legacy physics-based algorithms. RailVision's LLM-powered AI is the next generation of train handling.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700" u="sng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Wabtec Corporation</a:t>
            </a: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700" u="sng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EPA Switcher Inventory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RAILVISION.CA</a:t>
            </a: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Product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EcoRail: AI-Based Train Handling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E865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Innovation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State-of-the-art AI train handling algorithms</a:t>
            </a:r>
            <a:endParaRPr lang="en-US" sz="100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Designed beyond legacy competitor constraints</a:t>
            </a:r>
            <a:endParaRPr lang="en-US" sz="100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Optimizes fuel per time and speed tradeoff</a:t>
            </a:r>
            <a:endParaRPr lang="en-US" sz="100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Continuously improves with operational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E865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Software-First,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201168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Deployed on tablets, integrated with existing data</a:t>
            </a:r>
            <a:endParaRPr lang="en-US" sz="100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Standardizes handling across crews and routes</a:t>
            </a:r>
            <a:endParaRPr lang="en-US" sz="100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Real-time guidance reduces fuel consumption</a:t>
            </a:r>
            <a:endParaRPr lang="en-US" sz="100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Faster crew onboarding and repeatable training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E865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201168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LLM-powered ingestion of slow orders and consist data</a:t>
            </a:r>
            <a:endParaRPr lang="en-US" sz="100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Minimal IT integration with existing systems</a:t>
            </a:r>
            <a:endParaRPr lang="en-US" sz="100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Rapid deployment across any railroad</a:t>
            </a:r>
            <a:endParaRPr lang="en-US" sz="100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Enterprise-grade at a fraction of traditional cost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RAILVISION.CA</a:t>
            </a: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Gap 1: Shortline Railroads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Optimizer Was Built for Class I.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Shortlines Need Something Different.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OPTIMIZER LIMITATIONS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Requires dedicated onboard hardware integrated into locomotive systems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Long installation cycles measured in weeks per locomotive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Designed for Class I scale: PTC integration, LOCOTROL, Movement Planner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Cost-prohibitive for shortline budgets and fleet sizes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12,000+ installs — but few if any on shortline railroads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ECORAIL ADVANTAGE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Software-first: tablet + iPad + email forwarding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Deployed in a single day, not weeks or months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Cloud-based with no onboard hardware requirements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LLM-powered ingestion of slow orders and consist data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Gainshare model: $0 upfront, railroad keeps 70% of savings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700" u="sng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Wabtec TO Product Page</a:t>
            </a: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700" u="sng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Progressive Railroading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RAILVISION.CA</a:t>
            </a: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Shortline Market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American Shortline Industry: A $10M+ ARR Market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savings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123444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48840" y="1234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48840" y="1737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railroads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0" y="123444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E8652D"/>
          </a:solidFill>
          <a:ln w="9525">
            <a:solidFill>
              <a:srgbClr val="E86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0" y="1234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0" y="1737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market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32120" y="123444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32120" y="1234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32120" y="1737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locomotives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0" y="123444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23760" y="1234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23760" y="1737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SHORTLINE AGGREGATOR TARGETS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8229600" cy="162763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Locomotives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Savings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 Potential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2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Genesee &amp; Wyoming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A3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A3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$2.7M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OmniTrax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A3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A3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Watco Companies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A3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A3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4617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700" u="sng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RailVision Analytics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RAILVISION.CA</a:t>
            </a: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Gap 2: Class I Yard Locomotives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Optimizer Optimizes the Road.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Yard / Local Runs Are Still Unoptimized.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 switching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locomotives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606040" y="14173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06040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82,490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0604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gallons per switcher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(EPA)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$750M+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Class 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 fuel spend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903720" y="14173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03720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0372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switcher fleet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pre-Tier 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TRIP OPTIMIZER CANNOT SERVE YARD OPERATIONS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090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Threshold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33832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auto control activates at 12 mph. Yard operations are almost entirely below 10 mph.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06040" y="30175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15768" y="3090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Terrain-Based Design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15768" y="33832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calculates profiles over long distances using grade. Yards are flat with constant stop-start.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64608" y="3090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Dominance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64608" y="33832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Switchers idle 60-80% of time, consuming ~24,000 gal/year just idling. TO has no idle optimization.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03720" y="30175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13448" y="3090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Dependency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13448" y="33832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requires locomotive-integrated hardware. Most yard switchers are 20-50 year old units.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617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700" u="sng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EPA Switcher Inventory</a:t>
            </a: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700" u="sng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Wabtec TO Data Sheet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RAILVISION.CA</a:t>
            </a: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Yard Optimization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EcoRail for Yard Operations: A New Revenue Stream for Wabtec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 w="19050">
            <a:solidFill>
              <a:srgbClr val="007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$60M+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 opportunity from 8% yard fuel optimization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 w="19050">
            <a:solidFill>
              <a:srgbClr val="3DA3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2344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$18M+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754880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potential at 30% gainshare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ECORAIL ADAPTS TO YARD OPERATIONS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Throttle Optimization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33832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optimal throttle settings for low-speed car movements, reducing fuel waste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06040" y="30175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15768" y="3090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Reduction Intelligence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15768" y="33832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monitors operating conditions and guides crews on shutdown/restart timing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4608" y="3090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Standardization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64608" y="33832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guidance across all crews reduces variability, training costs, and wear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30175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13448" y="30906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Compliance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13448" y="33832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fuel reductions support EPA and CARB reporting for yard operations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700" u="sng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EPA Switcher Data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RAILVISION.CA</a:t>
            </a: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Gap 3: Next-Generation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 Disruption — Before a Competitor Does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Optimizer is a proven physics-based system on embedded hardware. But AI-native, cloud-first architectures will define the next era of train handling. RailVision gives Wabtec a path to lead that transition from within.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1A1A1A"/>
          </a:solidFill>
          <a:ln w="19050">
            <a:solidFill>
              <a:srgbClr val="E86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Optimizer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algorithms on embedded locomotive hardware. EPA-certified 10–15% savings. Requires hardware integration.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1A1A1A"/>
          </a:solidFill>
          <a:ln w="19050">
            <a:solidFill>
              <a:srgbClr val="007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EcoRail Partnership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651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AI deployed on tablets. Cloud-native, continuously learning. Serves markets TO cannot reach.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1A1A1A"/>
          </a:solidFill>
          <a:ln w="19050">
            <a:solidFill>
              <a:srgbClr val="3DA3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0936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Wabtec AI Platform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EcoRail's AI engine integrated into Wabtec's digital ecosystem. Next-gen Trip Optimizer powered by advanced AI.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2856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76320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A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imperative: The companies that cannibalize their own products control the transition. Those that don't get disrupted.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700" u="sng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Wabtec WAICON 2025</a:t>
            </a: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700" u="sng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Railway Age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RAILVISION.CA</a:t>
            </a: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Technology Comparison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Optimizer vs. EcoRail: Complementary Architectures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216695"/>
              </p:ext>
            </p:extLst>
          </p:nvPr>
        </p:nvGraphicFramePr>
        <p:xfrm>
          <a:off x="457200" y="1188720"/>
          <a:ext cx="8229600" cy="3291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 Optimizer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Hardware-integrated into locomotive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A3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 + iPad, cloud-based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to months per locomotive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A3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 per railroad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Approach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Physics-based algorithms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A3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LLM-powered, continuously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update cycles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A3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OTA continuous 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Market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 main line road-haul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A3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Shortlines + Class I yards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Savings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10-15% (EPA-certified)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 (field-proven)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Upfront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hardware + license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A3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(gainshare model)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 sensors + local compute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A3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aggregation + LLM ingestion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architectures are complementary, not competitive. Together they cover the full railroad market.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617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700" u="sng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Wabtec Corporation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RAILVISION.CA</a:t>
            </a: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Proven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Field-Validated Performance Across Multiple Deployments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560320" cy="54864"/>
          </a:xfrm>
          <a:prstGeom prst="rect">
            <a:avLst/>
          </a:prstGeom>
          <a:solidFill>
            <a:srgbClr val="007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RAIL CANADA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592 Trips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8.29% Average Fuel Savings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Period: May 2023 – Sep 2024</a:t>
            </a:r>
            <a:endParaRPr lang="en-US" sz="9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Total fuel saved: 61,950 gallons</a:t>
            </a:r>
            <a:endParaRPr lang="en-US" sz="9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Value: $232,313</a:t>
            </a:r>
            <a:endParaRPr lang="en-US" sz="9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Routes: Toronto-Ottawa (277 mi), Toronto-Windsor (223 mi)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2560320" cy="54864"/>
          </a:xfrm>
          <a:prstGeom prst="rect">
            <a:avLst/>
          </a:prstGeom>
          <a:solidFill>
            <a:srgbClr val="E865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371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VERMONT RAIL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Savings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4688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Active deployment underway</a:t>
            </a:r>
            <a:endParaRPr lang="en-US" sz="9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Gainshare model validated</a:t>
            </a:r>
            <a:endParaRPr lang="en-US" sz="9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Support of VR President</a:t>
            </a:r>
            <a:endParaRPr lang="en-US" sz="9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Full deployment in progress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234440"/>
            <a:ext cx="2560320" cy="54864"/>
          </a:xfrm>
          <a:prstGeom prst="rect">
            <a:avLst/>
          </a:prstGeom>
          <a:solidFill>
            <a:srgbClr val="3DA3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09360" y="1371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GWRR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936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$2.7M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0936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 ARR (30% Gainshare)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4688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Largest shortline aggregator</a:t>
            </a:r>
            <a:endParaRPr lang="en-US" sz="9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112 properties across N. America</a:t>
            </a:r>
            <a:endParaRPr lang="en-US" sz="9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GWRR keeps $6.3M (70%)</a:t>
            </a:r>
            <a:endParaRPr lang="en-US" sz="9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Zero risk: pay only on proven results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RAILVISION.CA</a:t>
            </a: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Gainshare Economics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Upfront Cost. 100% Incentive Alignment.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Railroads buy risk and cost reduction. Not software.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Upfront.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documented monthly fuel cost retained — right to the bottom line.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implementation sprint.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WABTEC PARTNER VALUE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0" y="19659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New recurring revenue from unserved markets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Strengthen relationships with shortline operators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Yard optimization product complements TO portfolio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AI R&amp;D pipeline for future product evolution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242424"/>
          </a:solidFill>
          <a:ln w="12700">
            <a:solidFill>
              <a:srgbClr val="007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ADDRESSABLE MARKET FOR WABTEC PARTNERSHIP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Shortline ARR: $4.6M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 ARR: $18M+</a:t>
            </a: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r>
              <a:rPr lang="en-US" sz="1400" b="1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$22M+ Combined ARR Opportunity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RAILVISION.CA</a:t>
            </a: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Partnership 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Partner Brings to the Table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1A1A1A"/>
          </a:solidFill>
          <a:ln w="19050">
            <a:solidFill>
              <a:srgbClr val="007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WABTEC GETS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Shortline Distribution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access to 450+ railroads that TO cannot serve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 Optimization Product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 stream from Class I yard locomotive market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R&amp;D Pipeline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architecture for future Trip Optimizer evolution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Option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acquire at validated valuation ($50M–$100M target)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23444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1A1A1A"/>
          </a:solidFill>
          <a:ln w="19050">
            <a:solidFill>
              <a:srgbClr val="E86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RAILVISION GETS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Wabtec Brand Credibility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leader validation opens doors with conservative buyers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377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 Relationships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all 6 North American Class I railroads for yard deployment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017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+ System Integration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Wabtec's existing data and mapping infrastructure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657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$3M Strategic Funding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886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breakeven with 18+ months of runway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RAILVISION.CA</a:t>
            </a: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Revenue Trajectory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Path to $30M+ ARR by 2030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TRAJECTORY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$119K</a:t>
            </a: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(GWRR early deployment)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2027: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$1.25M</a:t>
            </a: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(aggregator expansion)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$9.0M</a:t>
            </a: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(shortline market expansion)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2029: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$17.2M</a:t>
            </a: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(Class I yard early adopters)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$29.5M</a:t>
            </a: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(global expansion begins)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1A1A1A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&amp; CAPITAL EFFICIENCY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burn rate: </a:t>
            </a:r>
            <a:r>
              <a:rPr lang="en-US" sz="11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$200K/month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$3M funding: </a:t>
            </a:r>
            <a:r>
              <a:rPr lang="en-US" sz="1100" b="1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months to sustainability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 at $1.5M+ ARR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69748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1A1A1A"/>
          </a:solidFill>
          <a:ln w="19050">
            <a:solidFill>
              <a:srgbClr val="007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788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WABTEC YARD UPSIDE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3063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 yard deployment adds potential $5–10M ARR by 2029 — entirely incremental to the shortline trajectory. This is revenue Wabtec's existing products cannot capture.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RAILVISION.CA</a:t>
            </a: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Partnership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Leadership: Shortlines → Yards → AI Platform → Global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1572768" cy="2286000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 w="12700">
            <a:solidFill>
              <a:srgbClr val="E86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Shortline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880360"/>
            <a:ext cx="1389888" cy="502920"/>
          </a:xfrm>
          <a:prstGeom prst="roundRect">
            <a:avLst>
              <a:gd name="adj" fmla="val 10909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288036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Spend: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30632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$764M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75688" y="1280160"/>
            <a:ext cx="1572768" cy="2286000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 w="12700">
            <a:solidFill>
              <a:srgbClr val="E86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67128" y="13716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67128" y="164592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Shortline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31336" y="1280160"/>
            <a:ext cx="1572768" cy="2286000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 w="12700">
            <a:solidFill>
              <a:srgbClr val="007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22776" y="13716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22776" y="164592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 Yard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(Wabtec Co-Sell)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22776" y="2880360"/>
            <a:ext cx="1389888" cy="502920"/>
          </a:xfrm>
          <a:prstGeom prst="roundRect">
            <a:avLst>
              <a:gd name="adj" fmla="val 10909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22776" y="288036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Spend: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22776" y="30632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$750M+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86984" y="1280160"/>
            <a:ext cx="1572768" cy="2286000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 w="12700">
            <a:solidFill>
              <a:srgbClr val="3DA3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78424" y="13716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78424" y="164592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Optimizer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Evolution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78424" y="2880360"/>
            <a:ext cx="1389888" cy="502920"/>
          </a:xfrm>
          <a:prstGeom prst="roundRect">
            <a:avLst>
              <a:gd name="adj" fmla="val 10909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78424" y="288036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Spend: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78424" y="30632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$13.3B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42632" y="1280160"/>
            <a:ext cx="1572768" cy="2286000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 w="12700">
            <a:solidFill>
              <a:srgbClr val="3DA3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34072" y="137160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34072" y="164592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Expansion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Autonomy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34072" y="2880360"/>
            <a:ext cx="1389888" cy="502920"/>
          </a:xfrm>
          <a:prstGeom prst="roundRect">
            <a:avLst>
              <a:gd name="adj" fmla="val 10909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34072" y="288036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Spend: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434072" y="30632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$4.3B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ARR Potential: </a:t>
            </a:r>
            <a:r>
              <a:rPr lang="en-US" sz="1800" b="1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$200M+</a:t>
            </a: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What Railroads Want: </a:t>
            </a:r>
            <a:r>
              <a:rPr lang="en-US" sz="12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$1B+ in aggregate fuel savings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RAILVISION.CA</a:t>
            </a: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Strategic 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the Bridge to $50M–$100M Business Valuation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 w="19050">
            <a:solidFill>
              <a:srgbClr val="E86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OPPORTUNITY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$3M Bridge Financing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strength + railroad sales and support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acquisition rights for long-term ownership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 w="19050">
            <a:solidFill>
              <a:srgbClr val="3DA3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325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TARGET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28616" y="1486184"/>
            <a:ext cx="3566160" cy="73152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 to $100M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5–10x ARR for strategic acquirer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3DA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$30M ARR by 2030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MILESTONES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3273552"/>
            <a:ext cx="7498080" cy="36576"/>
          </a:xfrm>
          <a:prstGeom prst="rect">
            <a:avLst/>
          </a:prstGeom>
          <a:solidFill>
            <a:srgbClr val="007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0120" y="3200400"/>
            <a:ext cx="164592" cy="164592"/>
          </a:xfrm>
          <a:prstGeom prst="ellipse">
            <a:avLst/>
          </a:prstGeom>
          <a:solidFill>
            <a:srgbClr val="E865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GWRR properties live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($200K ARR run rate)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77440" y="3200400"/>
            <a:ext cx="164592" cy="164592"/>
          </a:xfrm>
          <a:prstGeom prst="ellipse">
            <a:avLst/>
          </a:prstGeom>
          <a:solidFill>
            <a:srgbClr val="E865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74520" y="29260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74520" y="34747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$2.5M+ ARR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(15+ properties)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94760" y="3200400"/>
            <a:ext cx="164592" cy="164592"/>
          </a:xfrm>
          <a:prstGeom prst="ellipse">
            <a:avLst/>
          </a:prstGeom>
          <a:solidFill>
            <a:srgbClr val="007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29260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34747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$1.25M revenue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(aggregator expansion)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12080" y="3200400"/>
            <a:ext cx="164592" cy="164592"/>
          </a:xfrm>
          <a:prstGeom prst="ellipse">
            <a:avLst/>
          </a:prstGeom>
          <a:solidFill>
            <a:srgbClr val="007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29260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9160" y="34747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$9.0M ARR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(shortline penetration)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629400" y="3200400"/>
            <a:ext cx="164592" cy="164592"/>
          </a:xfrm>
          <a:prstGeom prst="ellipse">
            <a:avLst/>
          </a:prstGeom>
          <a:solidFill>
            <a:srgbClr val="007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26480" y="29260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26480" y="34747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$17.2M ARR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 I yard adopters)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046720" y="3200400"/>
            <a:ext cx="164592" cy="164592"/>
          </a:xfrm>
          <a:prstGeom prst="ellipse">
            <a:avLst/>
          </a:prstGeom>
          <a:solidFill>
            <a:srgbClr val="0072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43800" y="29260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43800" y="34747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$29.5M ARR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(global expansion)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72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B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RAILVISION.CA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 ANALYTICS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Software Powering the Future of Trains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Jamie O'Rourke, CEO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jamie.orourke@railvision.ca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1816</Words>
  <Application>Microsoft Office PowerPoint</Application>
  <PresentationFormat>On-screen Show (16:9)</PresentationFormat>
  <Paragraphs>357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Wayne Kennedy</cp:lastModifiedBy>
  <cp:revision>3</cp:revision>
  <dcterms:created xsi:type="dcterms:W3CDTF">2026-03-16T17:39:31Z</dcterms:created>
  <dcterms:modified xsi:type="dcterms:W3CDTF">2026-03-16T18:01:40Z</dcterms:modified>
</cp:coreProperties>
</file>