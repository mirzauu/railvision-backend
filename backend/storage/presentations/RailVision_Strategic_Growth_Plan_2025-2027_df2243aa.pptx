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RailVision Strategic Growth Plan 2025-2027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95527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$2.4B market opportunity in predictive rail maintenance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Revenue target: $180M → $520M by 2027 (3-phase strategy)</a:t>
            </a:r>
          </a:p>
          <a:p>
            <a:pPr>
              <a:spcAft>
                <a:spcPts val="800"/>
              </a:spcAft>
              <a:defRPr sz="1600">
                <a:solidFill>
                  <a:srgbClr val="323232"/>
                </a:solidFill>
              </a:defRPr>
            </a:pPr>
            <a:r>
              <a:t>Key enabler: proprietary sensor-fusion with 97.3% detection accuracy</a:t>
            </a:r>
          </a:p>
          <a:p>
            <a:pPr>
              <a:spcAft>
                <a:spcPts val="1200"/>
              </a:spcAft>
              <a:defRPr sz="1600">
                <a:solidFill>
                  <a:srgbClr val="323232"/>
                </a:solidFill>
              </a:defRPr>
            </a:pPr>
            <a:r>
              <a:t>Critical action: Secure Union Pacific pilot by Q2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7955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6B6B"/>
                </a:solidFill>
              </a:defRPr>
            </a:pPr>
            <a:r>
              <a:t>The single most important decision: invest $45M in Midwest corridor expansion to capture 15% market share before Wabtec's next-gen platform launches.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Situation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</a:defRPr>
            </a:pPr>
            <a:r>
              <a:t>Current State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2761"/>
                </a:solidFill>
              </a:defRPr>
            </a:pPr>
            <a:r>
              <a:t>Revenue Growth:</a:t>
            </a:r>
          </a:p>
          <a:p>
            <a:pPr>
              <a:spcAft>
                <a:spcPts val="400"/>
              </a:spcAft>
              <a:defRPr sz="1300">
                <a:solidFill>
                  <a:srgbClr val="323232"/>
                </a:solidFill>
              </a:defRPr>
            </a:pPr>
            <a:r>
              <a:t>2023 Q1: $100M</a:t>
            </a:r>
            <a:br/>
            <a:r>
              <a:t>2023 Q2: $150M</a:t>
            </a:r>
            <a:br/>
            <a:r>
              <a:t>2023 Q3: $200M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8016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28090"/>
                </a:solidFill>
              </a:defRPr>
            </a:pPr>
            <a:r>
              <a:t>Revenue growth by 50% from Q1 to Q3.</a:t>
            </a:r>
          </a:p>
          <a:p>
            <a:pPr>
              <a:spcAft>
                <a:spcPts val="1200"/>
              </a:spcAft>
              <a:defRPr sz="1500">
                <a:solidFill>
                  <a:srgbClr val="323232"/>
                </a:solidFill>
              </a:defRPr>
            </a:pPr>
            <a:r>
              <a:t>Increased market penetration in key areas.</a:t>
            </a:r>
          </a:p>
          <a:p>
            <a:pPr>
              <a:spcAft>
                <a:spcPts val="1200"/>
              </a:spcAft>
              <a:defRPr sz="1500">
                <a:solidFill>
                  <a:srgbClr val="323232"/>
                </a:solidFill>
              </a:defRPr>
            </a:pPr>
            <a:r>
              <a:t>Strong positioning in Northeast and Midwest corridors.</a:t>
            </a:r>
          </a:p>
          <a:p>
            <a:pPr>
              <a:defRPr sz="1500">
                <a:solidFill>
                  <a:srgbClr val="323232"/>
                </a:solidFill>
              </a:defRPr>
            </a:pPr>
            <a:r>
              <a:t>Customer retention rate: 92%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</a:defRPr>
            </a:pPr>
            <a:r>
              <a:t>Market Landscape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7772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2286000"/>
                <a:gridCol w="2286000"/>
              </a:tblGrid>
              <a:tr h="640080">
                <a:tc>
                  <a:txBody>
                    <a:bodyPr anchor="ctr"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Competitor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Share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Key Strength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Our Advantage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 anchor="ctr" wrap="square"/>
                    <a:lstStyle/>
                    <a:p>
                      <a:pPr algn="l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Wabtec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wrap="square"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wrap="square"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Scale &amp; relationships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wrap="square"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3.2x better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anchor="ctr" wrap="square"/>
                    <a:lstStyle/>
                    <a:p>
                      <a:pPr algn="l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Hitachi Rail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wrap="square"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wrap="square"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Global R&amp;D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wrap="square"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63% faster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anchor="ctr" wrap="square"/>
                    <a:lstStyle/>
                    <a:p>
                      <a:pPr algn="l">
                        <a:defRPr sz="1100" b="1">
                          <a:solidFill>
                            <a:srgbClr val="323232"/>
                          </a:solidFill>
                        </a:defRPr>
                      </a:pPr>
                      <a:r>
                        <a:t>RailVision</a:t>
                      </a:r>
                    </a:p>
                  </a:txBody>
                  <a:tcPr>
                    <a:solidFill>
                      <a:srgbClr val="DCF0F0"/>
                    </a:solidFill>
                  </a:tcPr>
                </a:tc>
                <a:tc>
                  <a:txBody>
                    <a:bodyPr anchor="ctr" wrap="square"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7.5%</a:t>
                      </a:r>
                    </a:p>
                  </a:txBody>
                  <a:tcPr>
                    <a:solidFill>
                      <a:srgbClr val="DCF0F0"/>
                    </a:solidFill>
                  </a:tcPr>
                </a:tc>
                <a:tc>
                  <a:txBody>
                    <a:bodyPr anchor="ctr" wrap="square"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AI/ML + speed</a:t>
                      </a:r>
                    </a:p>
                  </a:txBody>
                  <a:tcPr>
                    <a:solidFill>
                      <a:srgbClr val="DCF0F0"/>
                    </a:solidFill>
                  </a:tcPr>
                </a:tc>
                <a:tc>
                  <a:txBody>
                    <a:bodyPr anchor="ctr" wrap="square"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Lowest TCO</a:t>
                      </a:r>
                    </a:p>
                  </a:txBody>
                  <a:tcPr>
                    <a:solidFill>
                      <a:srgbClr val="DCF0F0"/>
                    </a:solidFill>
                  </a:tcPr>
                </a:tc>
              </a:tr>
              <a:tr h="640080">
                <a:tc>
                  <a:txBody>
                    <a:bodyPr anchor="ctr"/>
                    <a:lstStyle/>
                    <a:p>
                      <a:pPr algn="l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European 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NA focus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6B6B"/>
                </a:solidFill>
              </a:defRPr>
            </a:pPr>
            <a:r>
              <a:t>RailVision's window to capture #2 position closes in 18 months.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Strategic Direction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</a:defRPr>
            </a:pPr>
            <a:r>
              <a:t>Strategic Options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9552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23232"/>
                </a:solidFill>
              </a:defRPr>
            </a:pPr>
            <a:r>
              <a:t>Option 1: Expand sensor line – higher upfront cost, rapid market share.</a:t>
            </a:r>
          </a:p>
          <a:p>
            <a:pPr>
              <a:spcAft>
                <a:spcPts val="1200"/>
              </a:spcAft>
              <a:defRPr sz="1500">
                <a:solidFill>
                  <a:srgbClr val="323232"/>
                </a:solidFill>
              </a:defRPr>
            </a:pPr>
            <a:r>
              <a:t>Option 2: Partner with logistics firms – cost-effective, slower growth.</a:t>
            </a:r>
          </a:p>
          <a:p>
            <a:pPr>
              <a:spcAft>
                <a:spcPts val="1200"/>
              </a:spcAft>
              <a:defRPr sz="1500">
                <a:solidFill>
                  <a:srgbClr val="323232"/>
                </a:solidFill>
              </a:defRPr>
            </a:pPr>
            <a:r>
              <a:t>Option 3: Invest in AI development – long-term differentiation.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7955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6B6B"/>
                </a:solidFill>
              </a:defRPr>
            </a:pPr>
            <a:r>
              <a:t>Striking the right balance between immediate growth and sustainable advantage is crucial.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</a:defRPr>
            </a:pPr>
            <a:r>
              <a:t>Recommended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95527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28090"/>
                </a:solidFill>
              </a:defRPr>
            </a:pPr>
            <a:r>
              <a:t>Chosen Strategy: Expand sensor line to capture immediate market growth.</a:t>
            </a:r>
          </a:p>
          <a:p>
            <a:pPr>
              <a:spcAft>
                <a:spcPts val="800"/>
              </a:spcAft>
              <a:defRPr sz="1500" b="1">
                <a:solidFill>
                  <a:srgbClr val="1E2761"/>
                </a:solidFill>
              </a:defRPr>
            </a:pPr>
            <a:r>
              <a:t>Timeline: Q1 2025 to Q4 2027</a:t>
            </a:r>
          </a:p>
          <a:p>
            <a:pPr lvl="1"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Q1 2025: Market research &amp; pilot tests</a:t>
            </a:r>
          </a:p>
          <a:p>
            <a:pPr lvl="1"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Q3 2025: Product launch</a:t>
            </a:r>
          </a:p>
          <a:p>
            <a:pPr lvl="1"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Q1 2026: Expansion to new regions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7955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6B6B"/>
                </a:solidFill>
              </a:defRPr>
            </a:pPr>
            <a:r>
              <a:t>Execution timing is key; the launch phase must be agile and responsive to market feedback.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</a:defRPr>
            </a:pPr>
            <a:r>
              <a:t>Financial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2761"/>
                </a:solidFill>
              </a:defRPr>
            </a:pPr>
            <a:r>
              <a:t>Revenue Projections: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2025: $300M</a:t>
            </a:r>
            <a:br/>
            <a:r>
              <a:t>2026: $450M</a:t>
            </a:r>
            <a:br/>
            <a:r>
              <a:t>2027: $520M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28016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028090"/>
                </a:solidFill>
              </a:defRPr>
            </a:pPr>
            <a:r>
              <a:t>Projected revenue increase by 73% over 3 years.</a:t>
            </a:r>
          </a:p>
          <a:p>
            <a:pPr>
              <a:spcAft>
                <a:spcPts val="1600"/>
              </a:spcAft>
              <a:defRPr sz="1500">
                <a:solidFill>
                  <a:srgbClr val="323232"/>
                </a:solidFill>
              </a:defRPr>
            </a:pPr>
            <a:r>
              <a:t>Required investment of $45M in AI and infrastructure.</a:t>
            </a:r>
          </a:p>
          <a:p>
            <a:pPr>
              <a:defRPr sz="1500" b="1">
                <a:solidFill>
                  <a:srgbClr val="FF6B6B"/>
                </a:solidFill>
              </a:defRPr>
            </a:pPr>
            <a:r>
              <a:t>Projected ROI: 320% by end of 2027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</a:defRPr>
            </a:pPr>
            <a:r>
              <a:t>Implementation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9552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28090"/>
                </a:solidFill>
              </a:defRPr>
            </a:pPr>
            <a:r>
              <a:t>Phase 1: Pilot Implementation (Q1 2025)</a:t>
            </a:r>
          </a:p>
          <a:p>
            <a:pPr lvl="1">
              <a:spcAft>
                <a:spcPts val="400"/>
              </a:spcAft>
              <a:defRPr sz="1300">
                <a:solidFill>
                  <a:srgbClr val="323232"/>
                </a:solidFill>
              </a:defRPr>
            </a:pPr>
            <a:r>
              <a:t>Develop pilot plans</a:t>
            </a:r>
          </a:p>
          <a:p>
            <a:pPr lvl="1">
              <a:spcAft>
                <a:spcPts val="1200"/>
              </a:spcAft>
              <a:defRPr sz="1300">
                <a:solidFill>
                  <a:srgbClr val="323232"/>
                </a:solidFill>
              </a:defRPr>
            </a:pPr>
            <a:r>
              <a:t>Secure partners</a:t>
            </a:r>
          </a:p>
          <a:p>
            <a:pPr>
              <a:spcAft>
                <a:spcPts val="600"/>
              </a:spcAft>
              <a:defRPr sz="1500" b="1">
                <a:solidFill>
                  <a:srgbClr val="028090"/>
                </a:solidFill>
              </a:defRPr>
            </a:pPr>
            <a:r>
              <a:t>Phase 2: Full Project Rollout (Q3 2025)</a:t>
            </a:r>
          </a:p>
          <a:p>
            <a:pPr lvl="1">
              <a:spcAft>
                <a:spcPts val="400"/>
              </a:spcAft>
              <a:defRPr sz="1300">
                <a:solidFill>
                  <a:srgbClr val="323232"/>
                </a:solidFill>
              </a:defRPr>
            </a:pPr>
            <a:r>
              <a:t>Execute market launches</a:t>
            </a:r>
          </a:p>
          <a:p>
            <a:pPr lvl="1">
              <a:defRPr sz="1300">
                <a:solidFill>
                  <a:srgbClr val="323232"/>
                </a:solidFill>
              </a:defRPr>
            </a:pPr>
            <a:r>
              <a:t>Optimize distribution networks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51960"/>
            <a:ext cx="7955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6B6B"/>
                </a:solidFill>
              </a:defRPr>
            </a:pPr>
            <a:r>
              <a:t>Maintaining clear targets and deadlines throughout execution stages is crucial.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Risk &amp; Next Steps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</a:defRPr>
            </a:pPr>
            <a:r>
              <a:t>Risk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7315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1645920"/>
                <a:gridCol w="2194560"/>
              </a:tblGrid>
              <a:tr h="731520">
                <a:tc>
                  <a:txBody>
                    <a:bodyPr anchor="ctr"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Likelihood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731520">
                <a:tc>
                  <a:txBody>
                    <a:bodyPr anchor="ctr" wrap="square"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Supply chain delays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wrap="square"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wrap="square"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wrap="square"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Diversify suppliers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anchor="ctr" wrap="square"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Market acceptance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wrap="square"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wrap="square"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wrap="square"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Customer feedback loops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anchor="ctr" wrap="square"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Regulatory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wrap="square"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wrap="square"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 wrap="square"/>
                    <a:lstStyle/>
                    <a:p>
                      <a:pPr algn="ctr">
                        <a:defRPr sz="1100">
                          <a:solidFill>
                            <a:srgbClr val="323232"/>
                          </a:solidFill>
                        </a:defRPr>
                      </a:pPr>
                      <a:r>
                        <a:t>Compliance strategy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2976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6B6B"/>
                </a:solidFill>
              </a:defRPr>
            </a:pPr>
            <a:r>
              <a:t>Close monitoring of supply chain and regulatory environment is essential.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</a:defRPr>
            </a:pPr>
            <a:r>
              <a:t>Next Steps &amp; Action Items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9552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E2761"/>
                </a:solidFill>
              </a:defRPr>
            </a:pPr>
            <a:r>
              <a:t>1. Conduct deeper market analysis</a:t>
            </a:r>
          </a:p>
          <a:p>
            <a:pPr lvl="1">
              <a:spcAft>
                <a:spcPts val="1000"/>
              </a:spcAft>
              <a:defRPr sz="1200">
                <a:solidFill>
                  <a:srgbClr val="323232"/>
                </a:solidFill>
              </a:defRPr>
            </a:pPr>
            <a:r>
              <a:t>Lead: Strategy Team  •  Deadline: Q4 2024</a:t>
            </a:r>
          </a:p>
          <a:p>
            <a:pPr>
              <a:spcAft>
                <a:spcPts val="200"/>
              </a:spcAft>
              <a:defRPr sz="1400" b="1">
                <a:solidFill>
                  <a:srgbClr val="1E2761"/>
                </a:solidFill>
              </a:defRPr>
            </a:pPr>
            <a:r>
              <a:t>2. Finalize production partners</a:t>
            </a:r>
          </a:p>
          <a:p>
            <a:pPr lvl="1">
              <a:spcAft>
                <a:spcPts val="1000"/>
              </a:spcAft>
              <a:defRPr sz="1200">
                <a:solidFill>
                  <a:srgbClr val="323232"/>
                </a:solidFill>
              </a:defRPr>
            </a:pPr>
            <a:r>
              <a:t>Lead: Production Team  •  Deadline: Q1 2025</a:t>
            </a:r>
          </a:p>
          <a:p>
            <a:pPr>
              <a:spcAft>
                <a:spcPts val="200"/>
              </a:spcAft>
              <a:defRPr sz="1400" b="1">
                <a:solidFill>
                  <a:srgbClr val="1E2761"/>
                </a:solidFill>
              </a:defRPr>
            </a:pPr>
            <a:r>
              <a:t>3. Launch pilot programs</a:t>
            </a:r>
          </a:p>
          <a:p>
            <a:pPr lvl="1">
              <a:spcAft>
                <a:spcPts val="1000"/>
              </a:spcAft>
              <a:defRPr sz="1200">
                <a:solidFill>
                  <a:srgbClr val="323232"/>
                </a:solidFill>
              </a:defRPr>
            </a:pPr>
            <a:r>
              <a:t>Lead: Operations Team  •  Deadline: Q2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51960"/>
            <a:ext cx="7955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6B6B"/>
                </a:solidFill>
              </a:defRPr>
            </a:pPr>
            <a:r>
              <a:t>Prompt action on these steps will ensure timely project success.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