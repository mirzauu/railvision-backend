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RailVision Analytics — Current Strategy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566160"/>
            <a:ext cx="301752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RailVision Analytics — Current Strategy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Internal Executive Strategy Review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Focus: </a:t>
            </a:r>
            <a:r>
              <a:rPr b="1" sz="1600">
                <a:solidFill>
                  <a:srgbClr val="333344"/>
                </a:solidFill>
                <a:latin typeface="Calibri"/>
              </a:rPr>
              <a:t>shortline market</a:t>
            </a:r>
            <a:r>
              <a:rPr sz="1600">
                <a:solidFill>
                  <a:srgbClr val="333344"/>
                </a:solidFill>
                <a:latin typeface="Calibri"/>
              </a:rPr>
              <a:t>, EcoRail + LTOC platform, GTM model, and 12-month priorities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Audience: Executive team / Board-prep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Date: [Insert date]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RailVision is building the operating-intelligence layer for underserved shortline railroads, using EcoRail and LTOC as the Trojan horse to a broader autonomy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We exist to give shortlines Class I–grade intelligence at shortline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Who we are:</a:t>
            </a:r>
            <a:r>
              <a:rPr sz="1600">
                <a:solidFill>
                  <a:srgbClr val="333344"/>
                </a:solidFill>
                <a:latin typeface="Calibri"/>
              </a:rPr>
              <a:t> RailVision Analytics — rail operations + data science focused on North American shortlines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Vision:</a:t>
            </a:r>
            <a:r>
              <a:rPr sz="1600">
                <a:solidFill>
                  <a:srgbClr val="333344"/>
                </a:solidFill>
                <a:latin typeface="Calibri"/>
              </a:rPr>
              <a:t> Become the operating-intelligence layer for every shortline railroad in North America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Trojan horse approach:</a:t>
            </a:r>
            <a:r>
              <a:rPr sz="1600">
                <a:solidFill>
                  <a:srgbClr val="333344"/>
                </a:solidFill>
                <a:latin typeface="Calibri"/>
              </a:rPr>
              <a:t> Start with </a:t>
            </a:r>
            <a:r>
              <a:rPr b="1" sz="1600">
                <a:solidFill>
                  <a:srgbClr val="333344"/>
                </a:solidFill>
                <a:latin typeface="Calibri"/>
              </a:rPr>
              <a:t>EcoRail fuel optimization</a:t>
            </a:r>
            <a:r>
              <a:rPr sz="1600">
                <a:solidFill>
                  <a:srgbClr val="333344"/>
                </a:solidFill>
                <a:latin typeface="Calibri"/>
              </a:rPr>
              <a:t> and </a:t>
            </a:r>
            <a:r>
              <a:rPr b="1" sz="1600">
                <a:solidFill>
                  <a:srgbClr val="333344"/>
                </a:solidFill>
                <a:latin typeface="Calibri"/>
              </a:rPr>
              <a:t>LTOC visibility</a:t>
            </a:r>
            <a:r>
              <a:rPr sz="1600">
                <a:solidFill>
                  <a:srgbClr val="333344"/>
                </a:solidFill>
                <a:latin typeface="Calibri"/>
              </a:rPr>
              <a:t>, expand into full operating platform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Why now:</a:t>
            </a:r>
            <a:r>
              <a:rPr sz="1600">
                <a:solidFill>
                  <a:srgbClr val="333344"/>
                </a:solidFill>
                <a:latin typeface="Calibri"/>
              </a:rPr>
              <a:t> Aging fleets, tight margins, and no purpose-built software have created a structural technology gap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i="1" sz="1600">
                <a:solidFill>
                  <a:srgbClr val="333344"/>
                </a:solidFill>
                <a:latin typeface="Calibri"/>
              </a:rPr>
              <a:t>Confidential — for internal executive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Shortlines move critical freight but operate with thin margins and limited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~</a:t>
            </a:r>
            <a:r>
              <a:rPr b="1" sz="1600">
                <a:solidFill>
                  <a:srgbClr val="333344"/>
                </a:solidFill>
                <a:latin typeface="Calibri"/>
              </a:rPr>
              <a:t>600+ shortline railroads</a:t>
            </a:r>
            <a:r>
              <a:rPr sz="1600">
                <a:solidFill>
                  <a:srgbClr val="333344"/>
                </a:solidFill>
                <a:latin typeface="Calibri"/>
              </a:rPr>
              <a:t> in North America handle a large share of first/last-mile freight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Fuel often represents </a:t>
            </a:r>
            <a:r>
              <a:rPr b="1" sz="1600">
                <a:solidFill>
                  <a:srgbClr val="333344"/>
                </a:solidFill>
                <a:latin typeface="Calibri"/>
              </a:rPr>
              <a:t>20–30% of operating cost</a:t>
            </a:r>
            <a:r>
              <a:rPr sz="1600">
                <a:solidFill>
                  <a:srgbClr val="333344"/>
                </a:solidFill>
                <a:latin typeface="Calibri"/>
              </a:rPr>
              <a:t>, yet most lack real-time optimization tools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Locomotive fleets are </a:t>
            </a:r>
            <a:r>
              <a:rPr b="1" sz="1600">
                <a:solidFill>
                  <a:srgbClr val="333344"/>
                </a:solidFill>
                <a:latin typeface="Calibri"/>
              </a:rPr>
              <a:t>decades old</a:t>
            </a:r>
            <a:r>
              <a:rPr sz="1600">
                <a:solidFill>
                  <a:srgbClr val="333344"/>
                </a:solidFill>
                <a:latin typeface="Calibri"/>
              </a:rPr>
              <a:t>, driving high unplanned maintenance and downtime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Operational decisions are often made with </a:t>
            </a:r>
            <a:r>
              <a:rPr b="1" sz="1600">
                <a:solidFill>
                  <a:srgbClr val="333344"/>
                </a:solidFill>
                <a:latin typeface="Calibri"/>
              </a:rPr>
              <a:t>spreadsheets, radios, and experience</a:t>
            </a:r>
            <a:r>
              <a:rPr sz="1600">
                <a:solidFill>
                  <a:srgbClr val="333344"/>
                </a:solidFill>
                <a:latin typeface="Calibri"/>
              </a:rPr>
              <a:t>, not data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Shortlines feel Class I performance pressure without Class I tools — this is the gap RailVision is built to fill.</a:t>
            </a:r>
          </a:p>
        </p:txBody>
      </p:sp>
      <p:pic>
        <p:nvPicPr>
          <p:cNvPr id="5" name="Picture 4" descr="tmpyv1tspv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828800"/>
            <a:ext cx="7772400" cy="4857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Opportunity in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611880"/>
            <a:ext cx="2743200" cy="508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AABBCC"/>
                </a:solidFill>
                <a:latin typeface="Calibri"/>
              </a:rPr>
              <a:t>RailVision is positioned to capture an underserved, fragmented market where a few holding companies control a large share of the shortline footprint.
&gt; The combination of **fragmentation at the railroad level** and **consolidation at the holding-company level** makes a land-and-expand strategy both necessary and achievable.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Shortline market is fragmented at the road level but consolidating at the owner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~</a:t>
            </a:r>
            <a:r>
              <a:rPr b="1" sz="1600">
                <a:solidFill>
                  <a:srgbClr val="333344"/>
                </a:solidFill>
                <a:latin typeface="Calibri"/>
              </a:rPr>
              <a:t>600+ shortlines</a:t>
            </a:r>
            <a:r>
              <a:rPr sz="1600">
                <a:solidFill>
                  <a:srgbClr val="333344"/>
                </a:solidFill>
                <a:latin typeface="Calibri"/>
              </a:rPr>
              <a:t> across North America; highly fragmented local operators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Dozens of </a:t>
            </a:r>
            <a:r>
              <a:rPr b="1" sz="1600">
                <a:solidFill>
                  <a:srgbClr val="333344"/>
                </a:solidFill>
                <a:latin typeface="Calibri"/>
              </a:rPr>
              <a:t>holding companies</a:t>
            </a:r>
            <a:r>
              <a:rPr sz="1600">
                <a:solidFill>
                  <a:srgbClr val="333344"/>
                </a:solidFill>
                <a:latin typeface="Calibri"/>
              </a:rPr>
              <a:t> (e.g., GWRR, OmniTrax, Watco) control large multi-road portfolios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Shortlines collectively represent a </a:t>
            </a:r>
            <a:r>
              <a:rPr b="1" sz="1600">
                <a:solidFill>
                  <a:srgbClr val="333344"/>
                </a:solidFill>
                <a:latin typeface="Calibri"/>
              </a:rPr>
              <a:t>multi-hundred-million-dollar</a:t>
            </a:r>
            <a:r>
              <a:rPr sz="1600">
                <a:solidFill>
                  <a:srgbClr val="333344"/>
                </a:solidFill>
                <a:latin typeface="Calibri"/>
              </a:rPr>
              <a:t> fuel and maintenance spend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Serviceable opportunity for RailVision: value-added analytics on fuel and locomotive cost, sold via holding companies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Winning 2–3 large holding companies can unlock access to dozens of individual shortlines and meaningful recurring ARR.</a:t>
            </a:r>
          </a:p>
        </p:txBody>
      </p:sp>
      <p:pic>
        <p:nvPicPr>
          <p:cNvPr id="5" name="Picture 4" descr="tmp1923rhn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8288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EcoRail turns raw train and fuel data into actionable savings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EcoRail</a:t>
            </a:r>
            <a:r>
              <a:rPr sz="1600">
                <a:solidFill>
                  <a:srgbClr val="333344"/>
                </a:solidFill>
                <a:latin typeface="Calibri"/>
              </a:rPr>
              <a:t> ingests consist, GPS, territory, and fuel data to recommend optimal throttle, speed, and handling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Delivered initially in </a:t>
            </a:r>
            <a:r>
              <a:rPr b="1" sz="1600">
                <a:solidFill>
                  <a:srgbClr val="333344"/>
                </a:solidFill>
                <a:latin typeface="Calibri"/>
              </a:rPr>
              <a:t>advisory mode</a:t>
            </a:r>
            <a:r>
              <a:rPr sz="1600">
                <a:solidFill>
                  <a:srgbClr val="333344"/>
                </a:solidFill>
                <a:latin typeface="Calibri"/>
              </a:rPr>
              <a:t> ("Google Maps" for engineers) with no PTC integration requirement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Zero-upfront, value-share</a:t>
            </a:r>
            <a:r>
              <a:rPr sz="1600">
                <a:solidFill>
                  <a:srgbClr val="333344"/>
                </a:solidFill>
                <a:latin typeface="Calibri"/>
              </a:rPr>
              <a:t> model: railroads only pay when verified fuel savings are achieved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Typical goal: demonstrate </a:t>
            </a:r>
            <a:r>
              <a:rPr b="1" sz="1600">
                <a:solidFill>
                  <a:srgbClr val="333344"/>
                </a:solidFill>
                <a:latin typeface="Calibri"/>
              </a:rPr>
              <a:t>high single-digit fuel savings</a:t>
            </a:r>
            <a:r>
              <a:rPr sz="1600">
                <a:solidFill>
                  <a:srgbClr val="333344"/>
                </a:solidFill>
                <a:latin typeface="Calibri"/>
              </a:rPr>
              <a:t> on eligible trips in 60–90 day pilots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Tablet-based deployment enables </a:t>
            </a:r>
            <a:r>
              <a:rPr b="1" sz="1600">
                <a:solidFill>
                  <a:srgbClr val="333344"/>
                </a:solidFill>
                <a:latin typeface="Calibri"/>
              </a:rPr>
              <a:t>fast rollout</a:t>
            </a:r>
            <a:r>
              <a:rPr sz="1600">
                <a:solidFill>
                  <a:srgbClr val="333344"/>
                </a:solidFill>
                <a:latin typeface="Calibri"/>
              </a:rPr>
              <a:t> on almost any locomotive in the fleet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EcoRail is the entry point — it proves financial value fast, earns trust, and opens the door for deeper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LTOC: Live Train Location &amp; Operating Context as a management-control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LTOC = Live Train Location &amp; Operating Context</a:t>
            </a:r>
            <a:r>
              <a:rPr sz="1600">
                <a:solidFill>
                  <a:srgbClr val="333344"/>
                </a:solidFill>
                <a:latin typeface="Calibri"/>
              </a:rPr>
              <a:t> — real-time geo-location plus current limits, slow orders, ETAs, and pacing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Visible both </a:t>
            </a:r>
            <a:r>
              <a:rPr b="1" sz="1600">
                <a:solidFill>
                  <a:srgbClr val="333344"/>
                </a:solidFill>
                <a:latin typeface="Calibri"/>
              </a:rPr>
              <a:t>in-cab and in-office</a:t>
            </a:r>
            <a:r>
              <a:rPr sz="1600">
                <a:solidFill>
                  <a:srgbClr val="333344"/>
                </a:solidFill>
                <a:latin typeface="Calibri"/>
              </a:rPr>
              <a:t>, standardizing the view between crews and managers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Reduces uncertainty around train status, improves compliance, and supports safer, smoother operations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sz="1600">
                <a:solidFill>
                  <a:srgbClr val="333344"/>
                </a:solidFill>
                <a:latin typeface="Calibri"/>
              </a:rPr>
              <a:t>When combined with EcoRail data, LTOC becomes a foundation for </a:t>
            </a:r>
            <a:r>
              <a:rPr b="1" sz="1600">
                <a:solidFill>
                  <a:srgbClr val="333344"/>
                </a:solidFill>
                <a:latin typeface="Calibri"/>
              </a:rPr>
              <a:t>locomotive total operating cost</a:t>
            </a:r>
            <a:r>
              <a:rPr sz="1600">
                <a:solidFill>
                  <a:srgbClr val="333344"/>
                </a:solidFill>
                <a:latin typeface="Calibri"/>
              </a:rPr>
              <a:t> insights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LTOC is both a demo hook and a control layer — it makes value visible and operationally sticky.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9260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Today (Typical Shortline)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With LTOC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Train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Radio calls, spreadsheets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**Live map + operating context**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Manual checks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Exception alerts &amp; playback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Crew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Experience-driven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Advisory guidance in-cab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Management view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Lagging reports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44"/>
                          </a:solidFill>
                          <a:latin typeface="Calibri"/>
                        </a:rPr>
                        <a:t>Near real-time dashboards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GTM: value-share pilots with GWRR &amp; OmniTrax as flagship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Lead offer:</a:t>
            </a:r>
            <a:r>
              <a:rPr sz="1600">
                <a:solidFill>
                  <a:srgbClr val="333344"/>
                </a:solidFill>
                <a:latin typeface="Calibri"/>
              </a:rPr>
              <a:t> Shortline-Proof ROI — </a:t>
            </a:r>
            <a:r>
              <a:rPr b="1" sz="1600">
                <a:solidFill>
                  <a:srgbClr val="333344"/>
                </a:solidFill>
                <a:latin typeface="Calibri"/>
              </a:rPr>
              <a:t>zero upfront</a:t>
            </a:r>
            <a:r>
              <a:rPr sz="1600">
                <a:solidFill>
                  <a:srgbClr val="333344"/>
                </a:solidFill>
                <a:latin typeface="Calibri"/>
              </a:rPr>
              <a:t>, runs on any locomotive, pay only when you save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Proof motion:</a:t>
            </a:r>
            <a:r>
              <a:rPr sz="1600">
                <a:solidFill>
                  <a:srgbClr val="333344"/>
                </a:solidFill>
                <a:latin typeface="Calibri"/>
              </a:rPr>
              <a:t> 60–90 day corridor pilots targeting high single-digit fuel savings and improved advisory compliance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GWRR:</a:t>
            </a:r>
            <a:r>
              <a:rPr sz="1600">
                <a:solidFill>
                  <a:srgbClr val="333344"/>
                </a:solidFill>
                <a:latin typeface="Calibri"/>
              </a:rPr>
              <a:t> Active multi-corridor pilot; potential access to </a:t>
            </a:r>
            <a:r>
              <a:rPr b="1" sz="1600">
                <a:solidFill>
                  <a:srgbClr val="333344"/>
                </a:solidFill>
                <a:latin typeface="Calibri"/>
              </a:rPr>
              <a:t>100+ properties</a:t>
            </a:r>
            <a:r>
              <a:rPr sz="1600">
                <a:solidFill>
                  <a:srgbClr val="333344"/>
                </a:solidFill>
                <a:latin typeface="Calibri"/>
              </a:rPr>
              <a:t> if successful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OmniTrax:</a:t>
            </a:r>
            <a:r>
              <a:rPr sz="1600">
                <a:solidFill>
                  <a:srgbClr val="333344"/>
                </a:solidFill>
                <a:latin typeface="Calibri"/>
              </a:rPr>
              <a:t> Pilot underway; validates repeatability of the sales and deployment motion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Commercial model:</a:t>
            </a:r>
            <a:r>
              <a:rPr sz="1600">
                <a:solidFill>
                  <a:srgbClr val="333344"/>
                </a:solidFill>
                <a:latin typeface="Calibri"/>
              </a:rPr>
              <a:t> 30% value-share on verified savings or flat subscription, with value-share as primary wedge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The immediate strategic objective is clear: convert GWRR and OmniTrax from pilots into scalable, multi-road rollouts.</a:t>
            </a:r>
          </a:p>
        </p:txBody>
      </p:sp>
      <p:pic>
        <p:nvPicPr>
          <p:cNvPr id="5" name="Picture 4" descr="tmpztla3py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18288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Calibri"/>
              </a:rPr>
              <a:t>Key risks and what we must prove in the next 12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81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Pilot performance risk:</a:t>
            </a:r>
            <a:r>
              <a:rPr sz="1600">
                <a:solidFill>
                  <a:srgbClr val="333344"/>
                </a:solidFill>
                <a:latin typeface="Calibri"/>
              </a:rPr>
              <a:t> Fuel savings and compliance must be independently verified and defensible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Adoption risk:</a:t>
            </a:r>
            <a:r>
              <a:rPr sz="1600">
                <a:solidFill>
                  <a:srgbClr val="333344"/>
                </a:solidFill>
                <a:latin typeface="Calibri"/>
              </a:rPr>
              <a:t> Conservative buyers may stall beyond pilots without strong internal champions and case studies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Concentration risk:</a:t>
            </a:r>
            <a:r>
              <a:rPr sz="1600">
                <a:solidFill>
                  <a:srgbClr val="333344"/>
                </a:solidFill>
                <a:latin typeface="Calibri"/>
              </a:rPr>
              <a:t> Near-term ARR targets depend heavily on successful GWRR and OmniTrax expansion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000">
                <a:solidFill>
                  <a:srgbClr val="2D7DD2"/>
                </a:solidFill>
                <a:latin typeface="Calibri"/>
              </a:rPr>
              <a:t>●  </a:t>
            </a:r>
            <a:r>
              <a:rPr b="1" sz="1600">
                <a:solidFill>
                  <a:srgbClr val="333344"/>
                </a:solidFill>
                <a:latin typeface="Calibri"/>
              </a:rPr>
              <a:t>Messaging risk:</a:t>
            </a:r>
            <a:r>
              <a:rPr sz="1600">
                <a:solidFill>
                  <a:srgbClr val="333344"/>
                </a:solidFill>
                <a:latin typeface="Calibri"/>
              </a:rPr>
              <a:t> Overstating savings or market size can damage credibility with partners and investors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>
                <a:solidFill>
                  <a:srgbClr val="2D7DD2"/>
                </a:solidFill>
                <a:latin typeface="Calibri"/>
              </a:rPr>
              <a:t>1.  </a:t>
            </a:r>
            <a:r>
              <a:rPr b="1" sz="1600">
                <a:solidFill>
                  <a:srgbClr val="333344"/>
                </a:solidFill>
                <a:latin typeface="Calibri"/>
              </a:rPr>
              <a:t>Prove</a:t>
            </a:r>
            <a:r>
              <a:rPr sz="1600">
                <a:solidFill>
                  <a:srgbClr val="333344"/>
                </a:solidFill>
                <a:latin typeface="Calibri"/>
              </a:rPr>
              <a:t> EcoRail and LTOC value with hard data from GWRR and OmniTrax pilots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>
                <a:solidFill>
                  <a:srgbClr val="2D7DD2"/>
                </a:solidFill>
                <a:latin typeface="Calibri"/>
              </a:rPr>
              <a:t>2.  </a:t>
            </a:r>
            <a:r>
              <a:rPr b="1" sz="1600">
                <a:solidFill>
                  <a:srgbClr val="333344"/>
                </a:solidFill>
                <a:latin typeface="Calibri"/>
              </a:rPr>
              <a:t>Convert</a:t>
            </a:r>
            <a:r>
              <a:rPr sz="1600">
                <a:solidFill>
                  <a:srgbClr val="333344"/>
                </a:solidFill>
                <a:latin typeface="Calibri"/>
              </a:rPr>
              <a:t> at least one pilot to a multi-road rollout with a clear land-and-expand playbook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>
                <a:solidFill>
                  <a:srgbClr val="2D7DD2"/>
                </a:solidFill>
                <a:latin typeface="Calibri"/>
              </a:rPr>
              <a:t>3.  </a:t>
            </a:r>
            <a:r>
              <a:rPr b="1" sz="1600">
                <a:solidFill>
                  <a:srgbClr val="333344"/>
                </a:solidFill>
                <a:latin typeface="Calibri"/>
              </a:rPr>
              <a:t>Standardize</a:t>
            </a:r>
            <a:r>
              <a:rPr sz="1600">
                <a:solidFill>
                  <a:srgbClr val="333344"/>
                </a:solidFill>
                <a:latin typeface="Calibri"/>
              </a:rPr>
              <a:t> external messaging on savings, TAM, and product claims for investor- and partner-readiness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>
                <a:solidFill>
                  <a:srgbClr val="2D7DD2"/>
                </a:solidFill>
                <a:latin typeface="Calibri"/>
              </a:rPr>
              <a:t>4.  </a:t>
            </a:r>
            <a:r>
              <a:rPr b="1" sz="1600">
                <a:solidFill>
                  <a:srgbClr val="333344"/>
                </a:solidFill>
                <a:latin typeface="Calibri"/>
              </a:rPr>
              <a:t>Prepare</a:t>
            </a:r>
            <a:r>
              <a:rPr sz="1600">
                <a:solidFill>
                  <a:srgbClr val="333344"/>
                </a:solidFill>
                <a:latin typeface="Calibri"/>
              </a:rPr>
              <a:t> LTOC and EcoRail for scale (support, onboarding, and product robustness) to handle additional holding companies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1400">
                <a:latin typeface="Calibri"/>
              </a:rPr>
              <a:t>💡 </a:t>
            </a:r>
            <a:r>
              <a:rPr sz="1400" i="1">
                <a:solidFill>
                  <a:srgbClr val="2D5F8A"/>
                </a:solidFill>
                <a:latin typeface="Calibri"/>
              </a:rPr>
              <a:t>The next 12 months are about **proof and scalability** — validating the model with GWRR and OmniTrax and getting the company ready to repeat that success.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07B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