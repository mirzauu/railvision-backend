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RailVision Analytics — Strategic Overview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566160"/>
            <a:ext cx="301752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Calibri"/>
              </a:rPr>
              <a:t>RailVision Is Building the Autonomy Platform for Rail — Starting with a Revenue-Generating AI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"Google Maps for Rail"</a:t>
            </a:r>
            <a:r>
              <a:rPr sz="1600">
                <a:solidFill>
                  <a:srgbClr val="333344"/>
                </a:solidFill>
                <a:latin typeface="Calibri"/>
              </a:rPr>
              <a:t> — EcoRail uses AI and self-driving algorithms to deliver real-time fuel optimization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650+ shortlines completely unserved</a:t>
            </a:r>
            <a:r>
              <a:rPr sz="1600">
                <a:solidFill>
                  <a:srgbClr val="333344"/>
                </a:solidFill>
                <a:latin typeface="Calibri"/>
              </a:rPr>
              <a:t> by any deployed fuel optimization technology today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+7% average fuel savings live</a:t>
            </a:r>
            <a:r>
              <a:rPr sz="1600">
                <a:solidFill>
                  <a:srgbClr val="333344"/>
                </a:solidFill>
                <a:latin typeface="Calibri"/>
              </a:rPr>
              <a:t> with crews today; up to </a:t>
            </a:r>
            <a:r>
              <a:rPr b="1" sz="1600">
                <a:solidFill>
                  <a:srgbClr val="333344"/>
                </a:solidFill>
                <a:latin typeface="Calibri"/>
              </a:rPr>
              <a:t>+15% max demonstrated</a:t>
            </a:r>
            <a:r>
              <a:rPr sz="1600">
                <a:solidFill>
                  <a:srgbClr val="333344"/>
                </a:solidFill>
                <a:latin typeface="Calibri"/>
              </a:rPr>
              <a:t> in human-operated environments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30% gainshare model</a:t>
            </a:r>
            <a:r>
              <a:rPr sz="1600">
                <a:solidFill>
                  <a:srgbClr val="333344"/>
                </a:solidFill>
                <a:latin typeface="Calibri"/>
              </a:rPr>
              <a:t> eliminates customer risk — railroads pay only on verified savings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Raising $3M</a:t>
            </a:r>
            <a:r>
              <a:rPr sz="1600">
                <a:solidFill>
                  <a:srgbClr val="333344"/>
                </a:solidFill>
                <a:latin typeface="Calibri"/>
              </a:rPr>
              <a:t> to scale from pilot traction to </a:t>
            </a:r>
            <a:r>
              <a:rPr b="1" sz="1600">
                <a:solidFill>
                  <a:srgbClr val="333344"/>
                </a:solidFill>
                <a:latin typeface="Calibri"/>
              </a:rPr>
              <a:t>$2.5M ARR in 12 months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Staged "Trojan Horse" strategy: fuel savings today → </a:t>
            </a:r>
            <a:r>
              <a:rPr b="1" sz="1600">
                <a:solidFill>
                  <a:srgbClr val="333344"/>
                </a:solidFill>
                <a:latin typeface="Calibri"/>
              </a:rPr>
              <a:t>full autonomous rail operations</a:t>
            </a:r>
            <a:r>
              <a:rPr sz="1600">
                <a:solidFill>
                  <a:srgbClr val="333344"/>
                </a:solidFill>
                <a:latin typeface="Calibri"/>
              </a:rPr>
              <a:t> tomorrow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>
                <a:latin typeface="Calibri"/>
              </a:rPr>
              <a:t>💡 </a:t>
            </a:r>
            <a:r>
              <a:rPr sz="1400" i="1">
                <a:solidFill>
                  <a:srgbClr val="2D5F8A"/>
                </a:solidFill>
                <a:latin typeface="Calibri"/>
              </a:rPr>
              <a:t>The shortline fuel optimization market is a $30M+ ARR opportunity — and RailVision is the only company with a deployed, validated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07B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611880"/>
            <a:ext cx="2743200" cy="508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AABBCC"/>
                </a:solidFill>
                <a:latin typeface="Calibri"/>
              </a:rPr>
              <a:t>A $30M+ market with zero deployed solutions — and a path to $113M+ in Class 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Calibri"/>
              </a:rPr>
              <a:t>Fuel Is the #1 Controllable Cost for Every Railroad — and Shortlines Have No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Fuel is the second-largest expense</a:t>
            </a:r>
            <a:r>
              <a:rPr sz="1600">
                <a:solidFill>
                  <a:srgbClr val="333344"/>
                </a:solidFill>
                <a:latin typeface="Calibri"/>
              </a:rPr>
              <a:t> for railroads after labor — and the </a:t>
            </a:r>
            <a:r>
              <a:rPr b="1" sz="1600">
                <a:solidFill>
                  <a:srgbClr val="333344"/>
                </a:solidFill>
                <a:latin typeface="Calibri"/>
              </a:rPr>
              <a:t>#1 controllable cost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Class I railroads spend </a:t>
            </a:r>
            <a:r>
              <a:rPr b="1" sz="1600">
                <a:solidFill>
                  <a:srgbClr val="333344"/>
                </a:solidFill>
                <a:latin typeface="Calibri"/>
              </a:rPr>
              <a:t>$9.4–$11.8 billion annually</a:t>
            </a:r>
            <a:r>
              <a:rPr sz="1600">
                <a:solidFill>
                  <a:srgbClr val="333344"/>
                </a:solidFill>
                <a:latin typeface="Calibri"/>
              </a:rPr>
              <a:t> on fuel across 7 major carriers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Wabtec's Trip Optimizer serves Class I with hardware-heavy installs on </a:t>
            </a:r>
            <a:r>
              <a:rPr b="1" sz="1600">
                <a:solidFill>
                  <a:srgbClr val="333344"/>
                </a:solidFill>
                <a:latin typeface="Calibri"/>
              </a:rPr>
              <a:t>6,000+ locomotives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650+ shortline railroads are completely unserved</a:t>
            </a:r>
            <a:r>
              <a:rPr sz="1600">
                <a:solidFill>
                  <a:srgbClr val="333344"/>
                </a:solidFill>
                <a:latin typeface="Calibri"/>
              </a:rPr>
              <a:t> — Trip Optimizer is too expensive and complex to deploy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The unserved shortline + EMS-unequipped market represents </a:t>
            </a:r>
            <a:r>
              <a:rPr b="1" sz="1600">
                <a:solidFill>
                  <a:srgbClr val="333344"/>
                </a:solidFill>
                <a:latin typeface="Calibri"/>
              </a:rPr>
              <a:t>$30M+ ARR</a:t>
            </a:r>
            <a:r>
              <a:rPr sz="1600">
                <a:solidFill>
                  <a:srgbClr val="333344"/>
                </a:solidFill>
                <a:latin typeface="Calibri"/>
              </a:rPr>
              <a:t> in North America alone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No competitor has a deployed, validated software product in this segment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>
                <a:latin typeface="Calibri"/>
              </a:rPr>
              <a:t>💡 </a:t>
            </a:r>
            <a:r>
              <a:rPr sz="1400" i="1">
                <a:solidFill>
                  <a:srgbClr val="2D5F8A"/>
                </a:solidFill>
                <a:latin typeface="Calibri"/>
              </a:rPr>
              <a:t>RailVision is the only company with documented fuel savings results in the shortline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07B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Calibri"/>
              </a:rPr>
              <a:t>Total Addressable Market Spans $9.2M in Shortline to $142M in Class 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>
                <a:latin typeface="Calibri"/>
              </a:rPr>
              <a:t>💡 </a:t>
            </a:r>
            <a:r>
              <a:rPr sz="1400" i="1">
                <a:solidFill>
                  <a:srgbClr val="2D5F8A"/>
                </a:solidFill>
                <a:latin typeface="Calibri"/>
              </a:rPr>
              <a:t>Near-term focus: Shortline &amp; Class II ($17.7M ARR). Long-term: Class I and international represent a $194M+ platform opportunity.</a:t>
            </a:r>
          </a:p>
        </p:txBody>
      </p:sp>
      <p:pic>
        <p:nvPicPr>
          <p:cNvPr id="5" name="Picture 4" descr="tmpb4sjok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1828800"/>
            <a:ext cx="77724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07B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EcoRail — 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611880"/>
            <a:ext cx="2743200" cy="508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AABBCC"/>
                </a:solidFill>
                <a:latin typeface="Calibri"/>
              </a:rPr>
              <a:t>A 'Google Maps' for rail — AI-powered, tablet-deployed, locomotive-agnostic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Calibri"/>
              </a:rPr>
              <a:t>EcoRail Delivers End-to-End Trip Intelligence Through Three Core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Deployment:</a:t>
            </a:r>
            <a:r>
              <a:rPr sz="1600">
                <a:solidFill>
                  <a:srgbClr val="333344"/>
                </a:solidFill>
                <a:latin typeface="Calibri"/>
              </a:rPr>
              <a:t> A bracket and a tablet — onboarding takes </a:t>
            </a:r>
            <a:r>
              <a:rPr b="1" sz="1600">
                <a:solidFill>
                  <a:srgbClr val="333344"/>
                </a:solidFill>
                <a:latin typeface="Calibri"/>
              </a:rPr>
              <a:t>weeks, not months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Locomotive-agnostic:</a:t>
            </a:r>
            <a:r>
              <a:rPr sz="1600">
                <a:solidFill>
                  <a:srgbClr val="333344"/>
                </a:solidFill>
                <a:latin typeface="Calibri"/>
              </a:rPr>
              <a:t> Works on any engine, any railroad, any terrain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Revenue model:</a:t>
            </a:r>
            <a:r>
              <a:rPr sz="1600">
                <a:solidFill>
                  <a:srgbClr val="333344"/>
                </a:solidFill>
                <a:latin typeface="Calibri"/>
              </a:rPr>
              <a:t> </a:t>
            </a:r>
            <a:r>
              <a:rPr b="1" sz="1600">
                <a:solidFill>
                  <a:srgbClr val="333344"/>
                </a:solidFill>
                <a:latin typeface="Calibri"/>
              </a:rPr>
              <a:t>30% gainshare</a:t>
            </a:r>
            <a:r>
              <a:rPr sz="1600">
                <a:solidFill>
                  <a:srgbClr val="333344"/>
                </a:solidFill>
                <a:latin typeface="Calibri"/>
              </a:rPr>
              <a:t> on verified </a:t>
            </a:r>
            <a:r>
              <a:rPr b="1" sz="1600">
                <a:solidFill>
                  <a:srgbClr val="333344"/>
                </a:solidFill>
                <a:latin typeface="Calibri"/>
              </a:rPr>
              <a:t>8% fuel savings</a:t>
            </a:r>
            <a:r>
              <a:rPr sz="1600">
                <a:solidFill>
                  <a:srgbClr val="333344"/>
                </a:solidFill>
                <a:latin typeface="Calibri"/>
              </a:rPr>
              <a:t> — zero upfront customer cost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EcoRail is the </a:t>
            </a:r>
            <a:r>
              <a:rPr b="1" sz="1600">
                <a:solidFill>
                  <a:srgbClr val="333344"/>
                </a:solidFill>
                <a:latin typeface="Calibri"/>
              </a:rPr>
              <a:t>Trojan Horse</a:t>
            </a:r>
            <a:r>
              <a:rPr sz="1600">
                <a:solidFill>
                  <a:srgbClr val="333344"/>
                </a:solidFill>
                <a:latin typeface="Calibri"/>
              </a:rPr>
              <a:t> — every deployment builds the data foundation for autonomous rail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>
                <a:latin typeface="Calibri"/>
              </a:rPr>
              <a:t>💡 </a:t>
            </a:r>
            <a:r>
              <a:rPr sz="1400" i="1">
                <a:solidFill>
                  <a:srgbClr val="2D5F8A"/>
                </a:solidFill>
                <a:latin typeface="Calibri"/>
              </a:rPr>
              <a:t>"RailVision is taking a staged, revenue-generating approach to build the foundational platform of autonomy."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926080"/>
          <a:ext cx="10698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Value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**Trip Setup**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Drivers receive &amp; review operational info via AI integrations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Eliminates manual pre-trip planning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**Live Recommendations**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Real-time driving guidance adapted to terrain, speed, conditions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**Delivers 7–15% fuel savings live**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**Trip Review**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Post-trip performance analysis for continuous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Builds operational data flywheel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07B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Calibri"/>
              </a:rPr>
              <a:t>EcoRail Has Demonstrated Up to 25% Fuel Savings Across Operating Modes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+7% average fuel savings</a:t>
            </a:r>
            <a:r>
              <a:rPr sz="1600">
                <a:solidFill>
                  <a:srgbClr val="333344"/>
                </a:solidFill>
                <a:latin typeface="Calibri"/>
              </a:rPr>
              <a:t> — demonstrated live with train crews operating EcoRail today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+15% maximum fuel savings</a:t>
            </a:r>
            <a:r>
              <a:rPr sz="1600">
                <a:solidFill>
                  <a:srgbClr val="333344"/>
                </a:solidFill>
                <a:latin typeface="Calibri"/>
              </a:rPr>
              <a:t> — demonstrated in live human-operated environments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+25% maximum fuel savings</a:t>
            </a:r>
            <a:r>
              <a:rPr sz="1600">
                <a:solidFill>
                  <a:srgbClr val="333344"/>
                </a:solidFill>
                <a:latin typeface="Calibri"/>
              </a:rPr>
              <a:t> — demonstrated in machine-operated simulation (</a:t>
            </a:r>
            <a:r>
              <a:rPr i="1" sz="1600">
                <a:solidFill>
                  <a:srgbClr val="333344"/>
                </a:solidFill>
                <a:latin typeface="Calibri"/>
              </a:rPr>
              <a:t>future autonomous state</a:t>
            </a:r>
            <a:r>
              <a:rPr sz="1600">
                <a:solidFill>
                  <a:srgbClr val="333344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As algorithms continue to improve, the </a:t>
            </a:r>
            <a:r>
              <a:rPr b="1" sz="1600">
                <a:solidFill>
                  <a:srgbClr val="333344"/>
                </a:solidFill>
                <a:latin typeface="Calibri"/>
              </a:rPr>
              <a:t>value to customers increases without hardware changes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>
                <a:latin typeface="Calibri"/>
              </a:rPr>
              <a:t>💡 </a:t>
            </a:r>
            <a:r>
              <a:rPr sz="1400" i="1">
                <a:solidFill>
                  <a:srgbClr val="2D5F8A"/>
                </a:solidFill>
                <a:latin typeface="Calibri"/>
              </a:rPr>
              <a:t>Every percentage point of fuel savings translates to millions in annual cost reduction for railroads.</a:t>
            </a:r>
          </a:p>
        </p:txBody>
      </p:sp>
      <p:pic>
        <p:nvPicPr>
          <p:cNvPr id="5" name="Picture 4" descr="tmpoul0xp4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1828800"/>
            <a:ext cx="77724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07B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Calibri"/>
              </a:rPr>
              <a:t>RailVision Outperforms Wabtec on Every Dimension That Matters to Shortlines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>
                <a:latin typeface="Calibri"/>
              </a:rPr>
              <a:t>💡 </a:t>
            </a:r>
            <a:r>
              <a:rPr sz="1400" i="1">
                <a:solidFill>
                  <a:srgbClr val="2D5F8A"/>
                </a:solidFill>
                <a:latin typeface="Calibri"/>
              </a:rPr>
              <a:t>RailVision's three moats: more advanced algorithms, minimal hardware, and a user experience that crews actually adopt.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92608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**RailVision EcoRail**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Wabtec Trip Optimizer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**Fuel Savings**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**7–25%**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5–17%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**Hardware Required**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**Bracket + tablet**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Heavy onboard install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**Deployment Time**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**Weeks**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Months to years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**Locomotive-Agnostic**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**Yes**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No — system-specific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**Installed Base**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Pilots underway (GWRR, OmniTrax)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6,000+ locomotives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**Market Focus**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**Shortline → Class I**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Class I only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**Pricing Model**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**Gainshare (no upfront cost)**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CapEx + license fees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**Onboarding Complexity**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**Simple — crews love it**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Extensive retraining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07B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Growth &amp; Commercialization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611880"/>
            <a:ext cx="2743200" cy="508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AABBCC"/>
                </a:solidFill>
                <a:latin typeface="Calibri"/>
              </a:rPr>
              <a:t>From pilot traction to $2.5M ARR in 12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Calibri"/>
              </a:rPr>
              <a:t>GWRR and OmniTrax Pilots Are Live — $20M+ Pipeline Behind Them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GWRR pilot underway</a:t>
            </a:r>
            <a:r>
              <a:rPr sz="1600">
                <a:solidFill>
                  <a:srgbClr val="333344"/>
                </a:solidFill>
                <a:latin typeface="Calibri"/>
              </a:rPr>
              <a:t> — 112 properties, </a:t>
            </a:r>
            <a:r>
              <a:rPr b="1" sz="1600">
                <a:solidFill>
                  <a:srgbClr val="333344"/>
                </a:solidFill>
                <a:latin typeface="Calibri"/>
              </a:rPr>
              <a:t>$2.7M near-term ARR</a:t>
            </a:r>
            <a:r>
              <a:rPr sz="1600">
                <a:solidFill>
                  <a:srgbClr val="333344"/>
                </a:solidFill>
                <a:latin typeface="Calibri"/>
              </a:rPr>
              <a:t>, 90-day validation timeline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OmniTrax pilot underway</a:t>
            </a:r>
            <a:r>
              <a:rPr sz="1600">
                <a:solidFill>
                  <a:srgbClr val="333344"/>
                </a:solidFill>
                <a:latin typeface="Calibri"/>
              </a:rPr>
              <a:t> — documenting fuel savings results for commercial rollout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G&amp;W full potential: $10M ARR</a:t>
            </a:r>
            <a:r>
              <a:rPr sz="1600">
                <a:solidFill>
                  <a:srgbClr val="333344"/>
                </a:solidFill>
                <a:latin typeface="Calibri"/>
              </a:rPr>
              <a:t> across 120 railroads — largest shortline operator in North America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Watco: $5M ARR</a:t>
            </a:r>
            <a:r>
              <a:rPr sz="1600">
                <a:solidFill>
                  <a:srgbClr val="333344"/>
                </a:solidFill>
                <a:latin typeface="Calibri"/>
              </a:rPr>
              <a:t> across 45 railroads — second priority after G&amp;W validation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Via Rail: $3.5M ARR</a:t>
            </a:r>
            <a:r>
              <a:rPr sz="1600">
                <a:solidFill>
                  <a:srgbClr val="333344"/>
                </a:solidFill>
                <a:latin typeface="Calibri"/>
              </a:rPr>
              <a:t> — largest passenger railroad in Canada, sustainability-driven buyer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>
                <a:latin typeface="Calibri"/>
              </a:rPr>
              <a:t>💡 </a:t>
            </a:r>
            <a:r>
              <a:rPr sz="1400" i="1">
                <a:solidFill>
                  <a:srgbClr val="2D5F8A"/>
                </a:solidFill>
                <a:latin typeface="Calibri"/>
              </a:rPr>
              <a:t>When GWRR pilots close with documented results, the competitive dynamics — and the valuation — change permanently.</a:t>
            </a:r>
          </a:p>
        </p:txBody>
      </p:sp>
      <p:pic>
        <p:nvPicPr>
          <p:cNvPr id="5" name="Picture 4" descr="tmptmy8in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1828800"/>
            <a:ext cx="77724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07B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Calibri"/>
              </a:rPr>
              <a:t>Five Strategic Partners Create Distribution, Credibility, and Defensibility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b="1" sz="1600">
                <a:solidFill>
                  <a:srgbClr val="333344"/>
                </a:solidFill>
                <a:latin typeface="Calibri"/>
              </a:rPr>
              <a:t>Strategic Technology Partners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Wabtec</a:t>
            </a:r>
            <a:r>
              <a:rPr sz="1600">
                <a:solidFill>
                  <a:srgbClr val="333344"/>
                </a:solidFill>
                <a:latin typeface="Calibri"/>
              </a:rPr>
              <a:t> — Fills their shortline gap; combined portfolio covers all rail segments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Alstom</a:t>
            </a:r>
            <a:r>
              <a:rPr sz="1600">
                <a:solidFill>
                  <a:srgbClr val="333344"/>
                </a:solidFill>
                <a:latin typeface="Calibri"/>
              </a:rPr>
              <a:t> — Entry into North American freight + global autonomous rail ambitions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Potential for joint platform development toward next-gen autonomous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b="1" sz="1600">
                <a:solidFill>
                  <a:srgbClr val="333344"/>
                </a:solidFill>
                <a:latin typeface="Calibri"/>
              </a:rPr>
              <a:t>Channel &amp; Distribution Partners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Loram</a:t>
            </a:r>
            <a:r>
              <a:rPr sz="1600">
                <a:solidFill>
                  <a:srgbClr val="333344"/>
                </a:solidFill>
                <a:latin typeface="Calibri"/>
              </a:rPr>
              <a:t> — Predictive maintenance ecosystem; presence in 32 countries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Holland</a:t>
            </a:r>
            <a:r>
              <a:rPr sz="1600">
                <a:solidFill>
                  <a:srgbClr val="333344"/>
                </a:solidFill>
                <a:latin typeface="Calibri"/>
              </a:rPr>
              <a:t> — 100+ year railway company; shortline relationships across NA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Railhead</a:t>
            </a:r>
            <a:r>
              <a:rPr sz="1600">
                <a:solidFill>
                  <a:srgbClr val="333344"/>
                </a:solidFill>
                <a:latin typeface="Calibri"/>
              </a:rPr>
              <a:t> — 800+ shortline customers, 60+ locations; PE-backed (Madison Dearborn)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>
                <a:latin typeface="Calibri"/>
              </a:rPr>
              <a:t>💡 </a:t>
            </a:r>
            <a:r>
              <a:rPr sz="1400" i="1">
                <a:solidFill>
                  <a:srgbClr val="2D5F8A"/>
                </a:solidFill>
                <a:latin typeface="Calibri"/>
              </a:rPr>
              <a:t>A combined Holland-Loram investment structure provides shared risk, combined railroad networks, and cross-border alignment.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07B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Calibri"/>
              </a:rPr>
              <a:t>Leadership Team Combines Deep Rail Expertise with AI/ML Technical Capability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b="1" sz="1600">
                <a:solidFill>
                  <a:srgbClr val="333344"/>
                </a:solidFill>
                <a:latin typeface="Calibri"/>
              </a:rPr>
              <a:t>Dev Jain — CEO &amp; Founder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McGill University</a:t>
            </a:r>
            <a:r>
              <a:rPr sz="1600">
                <a:solidFill>
                  <a:srgbClr val="333344"/>
                </a:solidFill>
                <a:latin typeface="Calibri"/>
              </a:rPr>
              <a:t> graduate; Centech Top Entrepreneur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7+ years of rail industry experience</a:t>
            </a:r>
            <a:r>
              <a:rPr sz="1600">
                <a:solidFill>
                  <a:srgbClr val="333344"/>
                </a:solidFill>
                <a:latin typeface="Calibri"/>
              </a:rPr>
              <a:t> building AI systems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Active </a:t>
            </a:r>
            <a:r>
              <a:rPr b="1" sz="1600">
                <a:solidFill>
                  <a:srgbClr val="333344"/>
                </a:solidFill>
                <a:latin typeface="Calibri"/>
              </a:rPr>
              <a:t>Canadian Military Reservist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Architect of EcoRail's self-driving algorithms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Contact: dev.jain@railvision.ca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b="1" sz="1600">
                <a:solidFill>
                  <a:srgbClr val="333344"/>
                </a:solidFill>
                <a:latin typeface="Calibri"/>
              </a:rPr>
              <a:t>Jamie O'Rourke — VP Sales &amp; Strategy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20-year railroad sales veteran</a:t>
            </a:r>
            <a:r>
              <a:rPr sz="1600">
                <a:solidFill>
                  <a:srgbClr val="333344"/>
                </a:solidFill>
                <a:latin typeface="Calibri"/>
              </a:rPr>
              <a:t> with deep industry relationships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Direct connections to Class I, Class II, and shortline decision-makers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Led go-to-market strategy and strategic partner development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Driving GWRR, OmniTrax, and Wabtec commercial conversations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>
                <a:latin typeface="Calibri"/>
              </a:rPr>
              <a:t>💡 </a:t>
            </a:r>
            <a:r>
              <a:rPr sz="1400" i="1">
                <a:solidFill>
                  <a:srgbClr val="2D5F8A"/>
                </a:solidFill>
                <a:latin typeface="Calibri"/>
              </a:rPr>
              <a:t>Planned hires with $3M raise: 2–3 strategic engineering hires + field deployment team to support scaling to 15+ properties.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07B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Calibri"/>
              </a:rPr>
              <a:t>Raising $3M to Scale from Pilot to $2.5M ARR — Targeting $50–100M Exit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$1.8M — Technical Team &amp; Key Hires:</a:t>
            </a:r>
            <a:r>
              <a:rPr sz="1600">
                <a:solidFill>
                  <a:srgbClr val="333344"/>
                </a:solidFill>
                <a:latin typeface="Calibri"/>
              </a:rPr>
              <a:t> Product development, API integrations (Wabtec/Alstom), 2–3 engineering hires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$1.2M — Field Rollout:</a:t>
            </a:r>
            <a:r>
              <a:rPr sz="1600">
                <a:solidFill>
                  <a:srgbClr val="333344"/>
                </a:solidFill>
                <a:latin typeface="Calibri"/>
              </a:rPr>
              <a:t> GWRR pilot deployment (3 properties), validation support, scaling to </a:t>
            </a:r>
            <a:r>
              <a:rPr b="1" sz="1600">
                <a:solidFill>
                  <a:srgbClr val="333344"/>
                </a:solidFill>
                <a:latin typeface="Calibri"/>
              </a:rPr>
              <a:t>15+ properties by Q4 2026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12-Month ARR Target: $2.5M</a:t>
            </a:r>
            <a:r>
              <a:rPr sz="1600">
                <a:solidFill>
                  <a:srgbClr val="333344"/>
                </a:solidFill>
                <a:latin typeface="Calibri"/>
              </a:rPr>
              <a:t> — driven by GWRR expansion + Watco + new shortline deployments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Exit Valuation: $50M–$100M</a:t>
            </a:r>
            <a:r>
              <a:rPr sz="1600">
                <a:solidFill>
                  <a:srgbClr val="333344"/>
                </a:solidFill>
                <a:latin typeface="Calibri"/>
              </a:rPr>
              <a:t> — based on </a:t>
            </a:r>
            <a:r>
              <a:rPr b="1" sz="1600">
                <a:solidFill>
                  <a:srgbClr val="333344"/>
                </a:solidFill>
                <a:latin typeface="Calibri"/>
              </a:rPr>
              <a:t>20–40x ARR multiple</a:t>
            </a:r>
            <a:r>
              <a:rPr sz="1600">
                <a:solidFill>
                  <a:srgbClr val="333344"/>
                </a:solidFill>
                <a:latin typeface="Calibri"/>
              </a:rPr>
              <a:t> for AI/SaaS in vertical markets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Revenue model scales with </a:t>
            </a:r>
            <a:r>
              <a:rPr b="1" sz="1600">
                <a:solidFill>
                  <a:srgbClr val="333344"/>
                </a:solidFill>
                <a:latin typeface="Calibri"/>
              </a:rPr>
              <a:t>zero marginal hardware cost</a:t>
            </a:r>
            <a:r>
              <a:rPr sz="1600">
                <a:solidFill>
                  <a:srgbClr val="333344"/>
                </a:solidFill>
                <a:latin typeface="Calibri"/>
              </a:rPr>
              <a:t> — pure software economics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>
                <a:latin typeface="Calibri"/>
              </a:rPr>
              <a:t>💡 </a:t>
            </a:r>
            <a:r>
              <a:rPr sz="1400" i="1">
                <a:solidFill>
                  <a:srgbClr val="2D5F8A"/>
                </a:solidFill>
                <a:latin typeface="Calibri"/>
              </a:rPr>
              <a:t>Post-GWRR validation, the next raise will be at a fundamentally different valuation. This is the last early-stage entry point.</a:t>
            </a:r>
          </a:p>
        </p:txBody>
      </p:sp>
      <p:pic>
        <p:nvPicPr>
          <p:cNvPr id="5" name="Picture 4" descr="tmpn1qaa3j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1828800"/>
            <a:ext cx="7772400" cy="4857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07B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Calibri"/>
              </a:rPr>
              <a:t>EcoRail Is the Trojan Horse — Every Deployment Builds the Foundation for Full Autonomy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Stage 1 generates revenue today</a:t>
            </a:r>
            <a:r>
              <a:rPr sz="1600">
                <a:solidFill>
                  <a:srgbClr val="333344"/>
                </a:solidFill>
                <a:latin typeface="Calibri"/>
              </a:rPr>
              <a:t> while building the operational data flywheel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Every trip creates proprietary training data for </a:t>
            </a:r>
            <a:r>
              <a:rPr b="1" sz="1600">
                <a:solidFill>
                  <a:srgbClr val="333344"/>
                </a:solidFill>
                <a:latin typeface="Calibri"/>
              </a:rPr>
              <a:t>self-driving algorithms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Locomotive-agnostic platform means </a:t>
            </a:r>
            <a:r>
              <a:rPr b="1" sz="1600">
                <a:solidFill>
                  <a:srgbClr val="333344"/>
                </a:solidFill>
                <a:latin typeface="Calibri"/>
              </a:rPr>
              <a:t>no hardware lock-in</a:t>
            </a:r>
            <a:r>
              <a:rPr sz="1600">
                <a:solidFill>
                  <a:srgbClr val="333344"/>
                </a:solidFill>
                <a:latin typeface="Calibri"/>
              </a:rPr>
              <a:t> as autonomy features activate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Comparable trajectory: autonomous trucking companies valued at </a:t>
            </a:r>
            <a:r>
              <a:rPr b="1" sz="1600">
                <a:solidFill>
                  <a:srgbClr val="333344"/>
                </a:solidFill>
                <a:latin typeface="Calibri"/>
              </a:rPr>
              <a:t>$1B+</a:t>
            </a:r>
            <a:r>
              <a:rPr sz="1600">
                <a:solidFill>
                  <a:srgbClr val="333344"/>
                </a:solidFill>
                <a:latin typeface="Calibri"/>
              </a:rPr>
              <a:t> (Embark, Applied Intuition)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Rail is a </a:t>
            </a:r>
            <a:r>
              <a:rPr b="1" sz="1600">
                <a:solidFill>
                  <a:srgbClr val="333344"/>
                </a:solidFill>
                <a:latin typeface="Calibri"/>
              </a:rPr>
              <a:t>simpler autonomy problem</a:t>
            </a:r>
            <a:r>
              <a:rPr sz="1600">
                <a:solidFill>
                  <a:srgbClr val="333344"/>
                </a:solidFill>
                <a:latin typeface="Calibri"/>
              </a:rPr>
              <a:t> than road — fixed tracks, controlled environments, fewer variables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>
                <a:latin typeface="Calibri"/>
              </a:rPr>
              <a:t>💡 </a:t>
            </a:r>
            <a:r>
              <a:rPr sz="1400" i="1">
                <a:solidFill>
                  <a:srgbClr val="2D5F8A"/>
                </a:solidFill>
                <a:latin typeface="Calibri"/>
              </a:rPr>
              <a:t>"We're building a fully autonomous rail industry. Starting with a revenue-generating, AI-enabled solution." — Dev Jain, CEO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926080"/>
          <a:ext cx="10698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**1**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**AI Advisory (EcoRail)**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Real-time fuel recommendations via tablet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**NOW — Live with crews**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**2**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**Enhanced Automation**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Deeper integration with locomotive controls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Next 12–24 months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**3**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**Full Autonomous Operations**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Self-driving train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Long-term vision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07B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Risk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611880"/>
            <a:ext cx="2743200" cy="508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AABBCC"/>
                </a:solidFill>
                <a:latin typeface="Calibri"/>
              </a:rPr>
              <a:t>Mitigating risks while executing on the 90-day critical path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Calibri"/>
              </a:rPr>
              <a:t>Four Key Risks — Each With a Clear Mitigation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Key assumption to validate:</a:t>
            </a:r>
            <a:r>
              <a:rPr sz="1600">
                <a:solidFill>
                  <a:srgbClr val="333344"/>
                </a:solidFill>
                <a:latin typeface="Calibri"/>
              </a:rPr>
              <a:t> Live fuel savings consistently meet or exceed </a:t>
            </a:r>
            <a:r>
              <a:rPr b="1" sz="1600">
                <a:solidFill>
                  <a:srgbClr val="333344"/>
                </a:solidFill>
                <a:latin typeface="Calibri"/>
              </a:rPr>
              <a:t>8% threshold</a:t>
            </a:r>
            <a:r>
              <a:rPr sz="1600">
                <a:solidFill>
                  <a:srgbClr val="333344"/>
                </a:solidFill>
                <a:latin typeface="Calibri"/>
              </a:rPr>
              <a:t> for gainshare economics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Regulatory environment:</a:t>
            </a:r>
            <a:r>
              <a:rPr sz="1600">
                <a:solidFill>
                  <a:srgbClr val="333344"/>
                </a:solidFill>
                <a:latin typeface="Calibri"/>
              </a:rPr>
              <a:t> Favorable — FRA encouraging technology adoption for safety and efficiency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Capital risk:</a:t>
            </a:r>
            <a:r>
              <a:rPr sz="1600">
                <a:solidFill>
                  <a:srgbClr val="333344"/>
                </a:solidFill>
                <a:latin typeface="Calibri"/>
              </a:rPr>
              <a:t> $3M raise covers 12+ months of runway through ARR inflection point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>
                <a:latin typeface="Calibri"/>
              </a:rPr>
              <a:t>💡 </a:t>
            </a:r>
            <a:r>
              <a:rPr sz="1400" i="1">
                <a:solidFill>
                  <a:srgbClr val="2D5F8A"/>
                </a:solidFill>
                <a:latin typeface="Calibri"/>
              </a:rPr>
              <a:t>The single biggest de-risking event: GWRR pilot results documented within 90 days. Everything downstream accelerates from there.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92608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**Adoption risk** — conservative railroads slow to adopt new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Gainshare model eliminates upfront cost; crews report positive UX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**Wabtec competitive response** — incumbents enter shortline market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Hardware-heavy approach is structural disadvantage in shortline segment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**Pilot-to-contract conversion** — GWRR/OmniTrax may not convert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90-day validation with documented savings creates data-driven decision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**Concentration risk** — G&amp;W represents outsized share of pipeline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Diversified across Watco, Via Rail, W&amp;LE + 5 strategic partners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07B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Calibri"/>
              </a:rPr>
              <a:t>90-Day Priorities: Close GWRR, Secure Funding, Activate Partners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>
                <a:solidFill>
                  <a:srgbClr val="2D7DD2"/>
                </a:solidFill>
                <a:latin typeface="Calibri"/>
              </a:rPr>
              <a:t>1.  </a:t>
            </a:r>
            <a:r>
              <a:rPr b="1" sz="1600">
                <a:solidFill>
                  <a:srgbClr val="333344"/>
                </a:solidFill>
                <a:latin typeface="Calibri"/>
              </a:rPr>
              <a:t>Close GWRR pilot with documented fuel savings</a:t>
            </a:r>
            <a:r>
              <a:rPr sz="1600">
                <a:solidFill>
                  <a:srgbClr val="333344"/>
                </a:solidFill>
                <a:latin typeface="Calibri"/>
              </a:rPr>
              <a:t> — target: verified 8%+ savings across 3 properties by end of Q2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>
                <a:solidFill>
                  <a:srgbClr val="2D7DD2"/>
                </a:solidFill>
                <a:latin typeface="Calibri"/>
              </a:rPr>
              <a:t>2.  </a:t>
            </a:r>
            <a:r>
              <a:rPr b="1" sz="1600">
                <a:solidFill>
                  <a:srgbClr val="333344"/>
                </a:solidFill>
                <a:latin typeface="Calibri"/>
              </a:rPr>
              <a:t>Secure $3M strategic round</a:t>
            </a:r>
            <a:r>
              <a:rPr sz="1600">
                <a:solidFill>
                  <a:srgbClr val="333344"/>
                </a:solidFill>
                <a:latin typeface="Calibri"/>
              </a:rPr>
              <a:t> — finalize lead investor from partner ecosystem (Wabtec, Loram, or Railhead)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>
                <a:solidFill>
                  <a:srgbClr val="2D7DD2"/>
                </a:solidFill>
                <a:latin typeface="Calibri"/>
              </a:rPr>
              <a:t>3.  </a:t>
            </a:r>
            <a:r>
              <a:rPr b="1" sz="1600">
                <a:solidFill>
                  <a:srgbClr val="333344"/>
                </a:solidFill>
                <a:latin typeface="Calibri"/>
              </a:rPr>
              <a:t>Activate Watco commercial conversation</a:t>
            </a:r>
            <a:r>
              <a:rPr sz="1600">
                <a:solidFill>
                  <a:srgbClr val="333344"/>
                </a:solidFill>
                <a:latin typeface="Calibri"/>
              </a:rPr>
              <a:t> — leverage GWRR results to open second major account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>
                <a:solidFill>
                  <a:srgbClr val="2D7DD2"/>
                </a:solidFill>
                <a:latin typeface="Calibri"/>
              </a:rPr>
              <a:t>4.  </a:t>
            </a:r>
            <a:r>
              <a:rPr b="1" sz="1600">
                <a:solidFill>
                  <a:srgbClr val="333344"/>
                </a:solidFill>
                <a:latin typeface="Calibri"/>
              </a:rPr>
              <a:t>Hire 2 engineers</a:t>
            </a:r>
            <a:r>
              <a:rPr sz="1600">
                <a:solidFill>
                  <a:srgbClr val="333344"/>
                </a:solidFill>
                <a:latin typeface="Calibri"/>
              </a:rPr>
              <a:t> — accelerate API integration with Wabtec systems and algorithm improvement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>
                <a:solidFill>
                  <a:srgbClr val="2D7DD2"/>
                </a:solidFill>
                <a:latin typeface="Calibri"/>
              </a:rPr>
              <a:t>5.  </a:t>
            </a:r>
            <a:r>
              <a:rPr b="1" sz="1600">
                <a:solidFill>
                  <a:srgbClr val="333344"/>
                </a:solidFill>
                <a:latin typeface="Calibri"/>
              </a:rPr>
              <a:t>Formalize Holland-Loram consortium</a:t>
            </a:r>
            <a:r>
              <a:rPr sz="1600">
                <a:solidFill>
                  <a:srgbClr val="333344"/>
                </a:solidFill>
                <a:latin typeface="Calibri"/>
              </a:rPr>
              <a:t> — combined track partner investment structure for shared risk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>
                <a:solidFill>
                  <a:srgbClr val="2D7DD2"/>
                </a:solidFill>
                <a:latin typeface="Calibri"/>
              </a:rPr>
              <a:t>6.  </a:t>
            </a:r>
            <a:r>
              <a:rPr b="1" sz="1600">
                <a:solidFill>
                  <a:srgbClr val="333344"/>
                </a:solidFill>
                <a:latin typeface="Calibri"/>
              </a:rPr>
              <a:t>Deliver Q2 board update</a:t>
            </a:r>
            <a:r>
              <a:rPr sz="1600">
                <a:solidFill>
                  <a:srgbClr val="333344"/>
                </a:solidFill>
                <a:latin typeface="Calibri"/>
              </a:rPr>
              <a:t> — ARR trajectory, pilot data, partnership status, next-raise positioning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6-Month Milestone:</a:t>
            </a:r>
            <a:r>
              <a:rPr sz="1600">
                <a:solidFill>
                  <a:srgbClr val="333344"/>
                </a:solidFill>
                <a:latin typeface="Calibri"/>
              </a:rPr>
              <a:t> 5+ properties live, </a:t>
            </a:r>
            <a:r>
              <a:rPr b="1" sz="1600">
                <a:solidFill>
                  <a:srgbClr val="333344"/>
                </a:solidFill>
                <a:latin typeface="Calibri"/>
              </a:rPr>
              <a:t>$500K+ ARR run-rate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12-Month Milestone:</a:t>
            </a:r>
            <a:r>
              <a:rPr sz="1600">
                <a:solidFill>
                  <a:srgbClr val="333344"/>
                </a:solidFill>
                <a:latin typeface="Calibri"/>
              </a:rPr>
              <a:t> 15+ properties live, </a:t>
            </a:r>
            <a:r>
              <a:rPr b="1" sz="1600">
                <a:solidFill>
                  <a:srgbClr val="333344"/>
                </a:solidFill>
                <a:latin typeface="Calibri"/>
              </a:rPr>
              <a:t>$2.5M ARR</a:t>
            </a:r>
            <a:r>
              <a:rPr sz="1600">
                <a:solidFill>
                  <a:srgbClr val="333344"/>
                </a:solidFill>
                <a:latin typeface="Calibri"/>
              </a:rPr>
              <a:t>, Series A positioning underway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>
                <a:latin typeface="Calibri"/>
              </a:rPr>
              <a:t>💡 </a:t>
            </a:r>
            <a:r>
              <a:rPr sz="1400" i="1">
                <a:solidFill>
                  <a:srgbClr val="2D5F8A"/>
                </a:solidFill>
                <a:latin typeface="Calibri"/>
              </a:rPr>
              <a:t>The window is now. GWRR results change the valuation. The current round is the last early-stage entry point before that inflection.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07B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