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6" r:id="rId2"/>
    <p:sldId id="267" r:id="rId3"/>
    <p:sldId id="273" r:id="rId4"/>
    <p:sldId id="271" r:id="rId5"/>
    <p:sldId id="269" r:id="rId6"/>
    <p:sldId id="270" r:id="rId7"/>
  </p:sldIdLst>
  <p:sldSz cx="9144000" cy="6858000" type="screen4x3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ourke163 jorourke163" userId="10fb0a6c269ef6de" providerId="LiveId" clId="{C6639A6B-CF53-4DCA-8CEC-CACC9C48DF51}"/>
    <pc:docChg chg="custSel delSld modSld">
      <pc:chgData name="jorourke163 jorourke163" userId="10fb0a6c269ef6de" providerId="LiveId" clId="{C6639A6B-CF53-4DCA-8CEC-CACC9C48DF51}" dt="2025-10-15T17:34:14.208" v="139" actId="20577"/>
      <pc:docMkLst>
        <pc:docMk/>
      </pc:docMkLst>
      <pc:sldChg chg="modSp mod">
        <pc:chgData name="jorourke163 jorourke163" userId="10fb0a6c269ef6de" providerId="LiveId" clId="{C6639A6B-CF53-4DCA-8CEC-CACC9C48DF51}" dt="2025-10-15T17:31:22.783" v="4" actId="20577"/>
        <pc:sldMkLst>
          <pc:docMk/>
          <pc:sldMk cId="2610339647" sldId="266"/>
        </pc:sldMkLst>
        <pc:spChg chg="mod">
          <ac:chgData name="jorourke163 jorourke163" userId="10fb0a6c269ef6de" providerId="LiveId" clId="{C6639A6B-CF53-4DCA-8CEC-CACC9C48DF51}" dt="2025-10-15T17:31:22.783" v="4" actId="20577"/>
          <ac:spMkLst>
            <pc:docMk/>
            <pc:sldMk cId="2610339647" sldId="266"/>
            <ac:spMk id="3" creationId="{A142F841-7B6C-77A6-F537-78467B75ED68}"/>
          </ac:spMkLst>
        </pc:spChg>
      </pc:sldChg>
      <pc:sldChg chg="del">
        <pc:chgData name="jorourke163 jorourke163" userId="10fb0a6c269ef6de" providerId="LiveId" clId="{C6639A6B-CF53-4DCA-8CEC-CACC9C48DF51}" dt="2025-10-15T17:31:13.801" v="1" actId="47"/>
        <pc:sldMkLst>
          <pc:docMk/>
          <pc:sldMk cId="2988259818" sldId="268"/>
        </pc:sldMkLst>
      </pc:sldChg>
      <pc:sldChg chg="modSp mod">
        <pc:chgData name="jorourke163 jorourke163" userId="10fb0a6c269ef6de" providerId="LiveId" clId="{C6639A6B-CF53-4DCA-8CEC-CACC9C48DF51}" dt="2025-10-15T17:34:14.208" v="139" actId="20577"/>
        <pc:sldMkLst>
          <pc:docMk/>
          <pc:sldMk cId="112207761" sldId="269"/>
        </pc:sldMkLst>
        <pc:spChg chg="mod">
          <ac:chgData name="jorourke163 jorourke163" userId="10fb0a6c269ef6de" providerId="LiveId" clId="{C6639A6B-CF53-4DCA-8CEC-CACC9C48DF51}" dt="2025-10-15T17:34:14.208" v="139" actId="20577"/>
          <ac:spMkLst>
            <pc:docMk/>
            <pc:sldMk cId="112207761" sldId="269"/>
            <ac:spMk id="3" creationId="{E1562B55-0A30-7980-874A-6666EA6E7627}"/>
          </ac:spMkLst>
        </pc:spChg>
      </pc:sldChg>
      <pc:sldChg chg="del">
        <pc:chgData name="jorourke163 jorourke163" userId="10fb0a6c269ef6de" providerId="LiveId" clId="{C6639A6B-CF53-4DCA-8CEC-CACC9C48DF51}" dt="2025-10-15T17:29:29.100" v="0" actId="47"/>
        <pc:sldMkLst>
          <pc:docMk/>
          <pc:sldMk cId="1929138250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D0D19BDC-6C32-4B68-BC6D-243040892530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8275" y="1173163"/>
            <a:ext cx="422592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1F070E98-D151-49E1-968C-CBDCF3B4724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08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1A79-8A1E-AA82-71DA-820568A3E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380" y="2130425"/>
            <a:ext cx="7772400" cy="1470025"/>
          </a:xfrm>
        </p:spPr>
        <p:txBody>
          <a:bodyPr/>
          <a:lstStyle/>
          <a:p>
            <a:r>
              <a:rPr lang="en-US" dirty="0"/>
              <a:t>RailVision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2F841-7B6C-77A6-F537-78467B75ED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October 15,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55F0F-FCB3-379A-47C9-A43B3AA64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225" y="2628859"/>
            <a:ext cx="615982" cy="53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39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0772-B0BC-94BF-605A-B79A0C81C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42810-986D-EACE-5052-FDFAEFE11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Big Picture Refresh</a:t>
            </a:r>
          </a:p>
          <a:p>
            <a:r>
              <a:rPr lang="en-US" dirty="0"/>
              <a:t>Recent Updates </a:t>
            </a:r>
          </a:p>
          <a:p>
            <a:r>
              <a:rPr lang="en-US" dirty="0"/>
              <a:t>Commercial Plans</a:t>
            </a:r>
          </a:p>
          <a:p>
            <a:r>
              <a:rPr lang="en-US" dirty="0"/>
              <a:t>Next Steps</a:t>
            </a:r>
          </a:p>
          <a:p>
            <a:r>
              <a:rPr lang="en-US" dirty="0"/>
              <a:t>Financial Model</a:t>
            </a:r>
          </a:p>
          <a:p>
            <a:r>
              <a:rPr lang="en-US" dirty="0"/>
              <a:t>Exit Strategy</a:t>
            </a:r>
          </a:p>
        </p:txBody>
      </p:sp>
    </p:spTree>
    <p:extLst>
      <p:ext uri="{BB962C8B-B14F-4D97-AF65-F5344CB8AC3E}">
        <p14:creationId xmlns:p14="http://schemas.microsoft.com/office/powerpoint/2010/main" val="1315140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5CC3-D83C-955E-9448-130D31B3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Refresh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F2B31-A642-2E98-8C84-28229E683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/>
              <a:t>Original investment thesis based on participating in railroad autonomous and eco-friendly transformation</a:t>
            </a:r>
          </a:p>
          <a:p>
            <a:r>
              <a:rPr lang="en-US" sz="2000" dirty="0"/>
              <a:t>Honed to FUEL SAVINGS </a:t>
            </a:r>
            <a:r>
              <a:rPr lang="en-US" sz="2000" dirty="0">
                <a:sym typeface="Wingdings" panose="05000000000000000000" pitchFamily="2" charset="2"/>
              </a:rPr>
              <a:t> Singular focus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       ----------------------------------------------------------------------------------------------</a:t>
            </a:r>
            <a:endParaRPr lang="en-US" sz="2000" dirty="0"/>
          </a:p>
          <a:p>
            <a:r>
              <a:rPr lang="en-US" sz="2000" dirty="0"/>
              <a:t>Initial Target Market ($CAN ARR)</a:t>
            </a:r>
          </a:p>
          <a:p>
            <a:pPr lvl="1"/>
            <a:r>
              <a:rPr lang="en-US" sz="2000" dirty="0"/>
              <a:t>Shortline:  $10M (competition is status quo)</a:t>
            </a:r>
          </a:p>
          <a:p>
            <a:pPr marL="0" indent="0">
              <a:buNone/>
            </a:pPr>
            <a:r>
              <a:rPr lang="en-US" sz="2000" dirty="0"/>
              <a:t>       ---------------------------------------------------------------------------------------------</a:t>
            </a:r>
          </a:p>
          <a:p>
            <a:r>
              <a:rPr lang="en-US" sz="2000" dirty="0"/>
              <a:t>Next Market ($CAN ARR)</a:t>
            </a:r>
          </a:p>
          <a:p>
            <a:pPr lvl="1"/>
            <a:r>
              <a:rPr lang="en-US" sz="2000" dirty="0"/>
              <a:t>North America CLASS I:  $500M+ (competition in monopolistic)</a:t>
            </a:r>
          </a:p>
          <a:p>
            <a:pPr lvl="1"/>
            <a:r>
              <a:rPr lang="en-US" sz="2000" dirty="0"/>
              <a:t>Highly concentrated – 5 customers</a:t>
            </a:r>
          </a:p>
          <a:p>
            <a:pPr lvl="1"/>
            <a:r>
              <a:rPr lang="en-US" sz="2000" dirty="0"/>
              <a:t>Competition (Wabtec) is burdened by legacy / age of technology</a:t>
            </a:r>
          </a:p>
          <a:p>
            <a:pPr lvl="1"/>
            <a:r>
              <a:rPr lang="en-US" sz="2000" dirty="0"/>
              <a:t>Railroads always want competition, even a small #2</a:t>
            </a:r>
          </a:p>
          <a:p>
            <a:pPr marL="457200" lvl="1" indent="0">
              <a:buNone/>
            </a:pPr>
            <a:r>
              <a:rPr lang="en-US" sz="2000" dirty="0"/>
              <a:t>--------------------------------------------------------------------------------------------</a:t>
            </a:r>
          </a:p>
          <a:p>
            <a:r>
              <a:rPr lang="en-US" sz="2000" dirty="0"/>
              <a:t>Global Market – To be determined ~ $1.5B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9243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4EDBC-86C4-8025-9B82-70FC6252F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B713-91C0-4CEC-34E8-4B73653F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Recent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DB75C-14B2-E7B5-A6D5-DF53F4939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Added rail domain expertise to team</a:t>
            </a:r>
          </a:p>
          <a:p>
            <a:pPr lvl="1"/>
            <a:r>
              <a:rPr lang="en-US" dirty="0"/>
              <a:t>Jamie O’Rourke + Ian Weiner + Informal BofA</a:t>
            </a:r>
          </a:p>
          <a:p>
            <a:r>
              <a:rPr lang="en-US" dirty="0"/>
              <a:t>Reduced costs / lowered burn rate</a:t>
            </a:r>
          </a:p>
          <a:p>
            <a:pPr lvl="1"/>
            <a:r>
              <a:rPr lang="en-US" dirty="0"/>
              <a:t>Bad news:  Lost two key technical resources</a:t>
            </a:r>
          </a:p>
          <a:p>
            <a:r>
              <a:rPr lang="en-US" dirty="0"/>
              <a:t>Advanced customer engagement (“contracts”)</a:t>
            </a:r>
          </a:p>
          <a:p>
            <a:pPr lvl="1"/>
            <a:r>
              <a:rPr lang="en-US" dirty="0"/>
              <a:t>Vermont Rail / OmniTrax / G&amp;W</a:t>
            </a:r>
          </a:p>
          <a:p>
            <a:pPr lvl="1"/>
            <a:r>
              <a:rPr lang="en-US" dirty="0"/>
              <a:t>Deploy and work technology in the field</a:t>
            </a:r>
          </a:p>
          <a:p>
            <a:r>
              <a:rPr lang="en-US" dirty="0"/>
              <a:t>Securing bridge funding ($500K to $1M CAN)</a:t>
            </a:r>
          </a:p>
        </p:txBody>
      </p:sp>
    </p:spTree>
    <p:extLst>
      <p:ext uri="{BB962C8B-B14F-4D97-AF65-F5344CB8AC3E}">
        <p14:creationId xmlns:p14="http://schemas.microsoft.com/office/powerpoint/2010/main" val="1177584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048A9-75D3-CEDF-D20E-7666B5EF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Commercial Plans</a:t>
            </a:r>
            <a:br>
              <a:rPr lang="en-US" dirty="0"/>
            </a:br>
            <a:r>
              <a:rPr lang="en-US" sz="2200" dirty="0"/>
              <a:t>Customer (Annual Revenue Size - $CAN)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62B55-0A30-7980-874A-6666EA6E7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Vermont Rail (~$100K/year)</a:t>
            </a:r>
          </a:p>
          <a:p>
            <a:pPr lvl="1"/>
            <a:r>
              <a:rPr lang="en-US" dirty="0"/>
              <a:t>Excellent partner to hone product while generating fuel savings.   November ‘25 revenue target.</a:t>
            </a:r>
          </a:p>
          <a:p>
            <a:r>
              <a:rPr lang="en-US" dirty="0"/>
              <a:t>OmniTrax (~$500K/year)</a:t>
            </a:r>
          </a:p>
          <a:p>
            <a:pPr lvl="1"/>
            <a:r>
              <a:rPr lang="en-US" dirty="0"/>
              <a:t>Have signed Term Sheet.   Targeting in Q4-’25 with monthly invoicing.</a:t>
            </a:r>
          </a:p>
          <a:p>
            <a:r>
              <a:rPr lang="en-US" dirty="0"/>
              <a:t>G&amp;W (~$3M/year)</a:t>
            </a:r>
          </a:p>
          <a:p>
            <a:pPr lvl="1"/>
            <a:r>
              <a:rPr lang="en-US" dirty="0"/>
              <a:t>Using Q4 to prove fuel savings.  Expect to be in revenue </a:t>
            </a:r>
            <a:r>
              <a:rPr lang="en-US"/>
              <a:t>service by Q2 </a:t>
            </a:r>
            <a:r>
              <a:rPr lang="en-US" dirty="0"/>
              <a:t>2026.</a:t>
            </a:r>
          </a:p>
        </p:txBody>
      </p:sp>
    </p:spTree>
    <p:extLst>
      <p:ext uri="{BB962C8B-B14F-4D97-AF65-F5344CB8AC3E}">
        <p14:creationId xmlns:p14="http://schemas.microsoft.com/office/powerpoint/2010/main" val="112207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46BA3-EF18-E129-1382-F52DEE76F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</a:t>
            </a:r>
            <a:r>
              <a:rPr lang="en-US" sz="2000" dirty="0"/>
              <a:t>($CAN)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F3885-84D8-4FAC-8B70-7D478B6D0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Immediate target:  N. America shortline market ($10M opportunity for RailVision)</a:t>
            </a:r>
          </a:p>
          <a:p>
            <a:pPr lvl="1"/>
            <a:r>
              <a:rPr lang="en-US" dirty="0"/>
              <a:t>Achieve break-even for this segment by mid 2026</a:t>
            </a:r>
          </a:p>
          <a:p>
            <a:r>
              <a:rPr lang="en-US" dirty="0"/>
              <a:t>Q4-2025:  Complete plan and fundraising pitch for total market – exponentially higher than the small shortline segment</a:t>
            </a:r>
          </a:p>
          <a:p>
            <a:r>
              <a:rPr lang="en-US" dirty="0"/>
              <a:t>2026:  Raise funds and scale business</a:t>
            </a:r>
          </a:p>
          <a:p>
            <a:pPr lvl="1"/>
            <a:r>
              <a:rPr lang="en-US" dirty="0"/>
              <a:t>Full C-Suite leadership</a:t>
            </a:r>
          </a:p>
          <a:p>
            <a:pPr lvl="1"/>
            <a:r>
              <a:rPr lang="en-US" dirty="0"/>
              <a:t>Technology developments (ease-of-use)</a:t>
            </a:r>
          </a:p>
          <a:p>
            <a:pPr lvl="1"/>
            <a:r>
              <a:rPr lang="en-US" dirty="0"/>
              <a:t>Field implementation support</a:t>
            </a:r>
          </a:p>
        </p:txBody>
      </p:sp>
    </p:spTree>
    <p:extLst>
      <p:ext uri="{BB962C8B-B14F-4D97-AF65-F5344CB8AC3E}">
        <p14:creationId xmlns:p14="http://schemas.microsoft.com/office/powerpoint/2010/main" val="3448869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321</Words>
  <Application>Microsoft Office PowerPoint</Application>
  <PresentationFormat>On-screen Show 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Wingdings</vt:lpstr>
      <vt:lpstr>Office Theme</vt:lpstr>
      <vt:lpstr>RailVision</vt:lpstr>
      <vt:lpstr>Business Execution</vt:lpstr>
      <vt:lpstr>Big Picture Refresh</vt:lpstr>
      <vt:lpstr>Recent Updates</vt:lpstr>
      <vt:lpstr>Commercial Plans Customer (Annual Revenue Size - $CAN)</vt:lpstr>
      <vt:lpstr>Next Steps ($CAN)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Owner</dc:creator>
  <cp:keywords/>
  <dc:description>generated using python-pptx</dc:description>
  <cp:lastModifiedBy>jorourke163 jorourke163</cp:lastModifiedBy>
  <cp:revision>4</cp:revision>
  <cp:lastPrinted>2025-07-02T13:45:34Z</cp:lastPrinted>
  <dcterms:created xsi:type="dcterms:W3CDTF">2013-01-27T09:14:16Z</dcterms:created>
  <dcterms:modified xsi:type="dcterms:W3CDTF">2025-10-15T17:34:15Z</dcterms:modified>
  <cp:category/>
</cp:coreProperties>
</file>